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0000"/>
                </a:solidFill>
                <a:latin typeface="Times New Roman"/>
              </a:defRPr>
            </a:pPr>
            <a:r>
              <a:t>InfraredSR 项目数据集介绍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444444"/>
                </a:solidFill>
                <a:latin typeface="Times New Roman"/>
              </a:defRPr>
            </a:pPr>
            <a:r>
              <a:t>红外遥感方向五个数据集：超分辨率重建、航拍车辆检测、</a:t>
            </a:r>
          </a:p>
          <a:p>
            <a:pPr>
              <a:spcAft>
                <a:spcPts val="600"/>
              </a:spcAft>
              <a:defRPr sz="1800">
                <a:solidFill>
                  <a:srgbClr val="444444"/>
                </a:solidFill>
                <a:latin typeface="Times New Roman"/>
              </a:defRPr>
            </a:pPr>
            <a:r>
              <a:t>跨传感器图像翻译、跨光谱配准与可见光引导超分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0000"/>
                </a:solidFill>
                <a:latin typeface="Times New Roman"/>
              </a:defRPr>
            </a:pPr>
            <a:r>
              <a:t>数据集总览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371600"/>
          <a:ext cx="10424160" cy="4828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103120"/>
                <a:gridCol w="2103120"/>
                <a:gridCol w="2560320"/>
                <a:gridCol w="2103120"/>
              </a:tblGrid>
              <a:tr h="8046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数据集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任务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模态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分辨率 / 尺度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规模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Infrared SR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红外图像超分辨率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(×2, ×4)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红外热成像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(单通道灰度)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HR 640×512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LR×2 320×256 / LR×4 160×128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7,121 对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训练 4,983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验证 1,069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测试 1,069</a:t>
                      </a:r>
                    </a:p>
                  </a:txBody>
                  <a:tcPr anchor="ctr"/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VEDAI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航拍车辆检测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(8 类)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可见光 RGB + 红外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(双模态配对)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512×512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1024×1024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1,246 张标注图像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3,706 个目标框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 折交叉验证</a:t>
                      </a:r>
                    </a:p>
                  </a:txBody>
                  <a:tcPr anchor="ctr"/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OLI2MSI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跨传感器图像翻译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(Landsat-8 → Sentinel-2)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多光谱卫星遥感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(GeoTIFF)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LR: 30m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HR: 10m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5,325 对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训练 5,225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测试 100</a:t>
                      </a:r>
                    </a:p>
                  </a:txBody>
                  <a:tcPr anchor="ctr"/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CIDIS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跨光谱图像配准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(热红外 ↔ 可见光)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热红外 + 可见光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(配对)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640×448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(RGB)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1,000 对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训练 700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验证 200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测试 100</a:t>
                      </a:r>
                    </a:p>
                  </a:txBody>
                  <a:tcPr anchor="ctr"/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CIDIS_guided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x8 x16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可见光引导红外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超分辨率 (×8, ×16)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热红外 + 可见光引导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(配对)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GT 640×448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LR×8 80×56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LR×16 40×28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700 对训练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200 对验证</a:t>
                      </a:r>
                    </a:p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40 对测试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0000"/>
                </a:solidFill>
                <a:latin typeface="Times New Roman"/>
              </a:defRPr>
            </a:pPr>
            <a:r>
              <a:t>Infrared SR — 红外图像超分辨率数据集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任务：单帧红外图像超分辨率重建，包含 ×2 和 ×4 两种放大倍率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格式：JPEG 灰度图像（8-bit 单通道），HR 与 LR 文件名一一对应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目录：{trainsets, valsets, testsets} / {HR, LRx2, LRx4}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分辨率：HR 640×512，LR×2 320×256，LR×4 160×128</a:t>
            </a:r>
          </a:p>
        </p:txBody>
      </p:sp>
      <p:pic>
        <p:nvPicPr>
          <p:cNvPr id="4" name="Picture 3" descr="irsr_HR 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291840"/>
            <a:ext cx="2743200" cy="2194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444444"/>
                </a:solidFill>
                <a:latin typeface="Times New Roman"/>
              </a:defRPr>
            </a:pPr>
            <a:r>
              <a:t>HR 640×512</a:t>
            </a:r>
          </a:p>
        </p:txBody>
      </p:sp>
      <p:pic>
        <p:nvPicPr>
          <p:cNvPr id="6" name="Picture 5" descr="irsr_LR×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3291840"/>
            <a:ext cx="1371600" cy="1097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23360" y="40462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444444"/>
                </a:solidFill>
                <a:latin typeface="Times New Roman"/>
              </a:defRPr>
            </a:pPr>
            <a:r>
              <a:t>LR×2 320×256</a:t>
            </a:r>
          </a:p>
        </p:txBody>
      </p:sp>
      <p:pic>
        <p:nvPicPr>
          <p:cNvPr id="8" name="Picture 7" descr="irsr_LR×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3291840"/>
            <a:ext cx="68580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0" y="366903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444444"/>
                </a:solidFill>
                <a:latin typeface="Times New Roman"/>
              </a:defRPr>
            </a:pPr>
            <a:r>
              <a:t>LR×4 160×128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0" y="1280160"/>
          <a:ext cx="3657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9144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集合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HR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LR×2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LR×4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训练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4,983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4,983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4,983</a:t>
                      </a:r>
                    </a:p>
                  </a:txBody>
                  <a:tcPr anchor="ctr"/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验证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1,069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1,069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1,069</a:t>
                      </a:r>
                    </a:p>
                  </a:txBody>
                  <a:tcPr anchor="ctr"/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测试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1,069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1,069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1,069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126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444444"/>
                </a:solidFill>
                <a:latin typeface="Times New Roman"/>
              </a:defRPr>
            </a:pPr>
            <a:r>
              <a:t>示例图像 0002.jpg：同一场景在三种分辨率下的对照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0000"/>
                </a:solidFill>
                <a:latin typeface="Times New Roman"/>
              </a:defRPr>
            </a:pPr>
            <a:r>
              <a:t>VEDAI — 航拍车辆检测数据集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任务：航拍视角下的多类车辆目标检测，提供配对的可见光与红外图像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格式：PNG 图像（*_co.png 为可见光，*_ir.png 为红外）+ YOLO 格式 TXT 标注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版本：VEDAI (512×512) 和 VEDAI_1024 (1024×1024)，标注文件 1,246 个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划分：5 折交叉验证（fold01~fold05.txt）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标注：class_id  x_center  y_center  width  height（归一化坐标）</a:t>
            </a:r>
          </a:p>
        </p:txBody>
      </p:sp>
      <p:pic>
        <p:nvPicPr>
          <p:cNvPr id="4" name="Picture 3" descr="vedai_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74720"/>
            <a:ext cx="2286000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852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444444"/>
                </a:solidFill>
                <a:latin typeface="Times New Roman"/>
              </a:defRPr>
            </a:pPr>
            <a:r>
              <a:t>可见光 RGB（00000000_co.png）</a:t>
            </a:r>
          </a:p>
        </p:txBody>
      </p:sp>
      <p:pic>
        <p:nvPicPr>
          <p:cNvPr id="6" name="Picture 5" descr="vedai_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3474720"/>
            <a:ext cx="22860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0" y="5852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444444"/>
                </a:solidFill>
                <a:latin typeface="Times New Roman"/>
              </a:defRPr>
            </a:pPr>
            <a:r>
              <a:t>红外 IR（00000000_ir.png）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0" y="3474720"/>
          <a:ext cx="5715000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594360"/>
                <a:gridCol w="594360"/>
                <a:gridCol w="594360"/>
                <a:gridCol w="640080"/>
                <a:gridCol w="594360"/>
                <a:gridCol w="502920"/>
                <a:gridCol w="731520"/>
                <a:gridCol w="64008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类别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轿车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卡车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皮卡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拖拉机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房车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船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摩托车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其他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数量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955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397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307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204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190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171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105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1,377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0000"/>
                </a:solidFill>
                <a:latin typeface="Times New Roman"/>
              </a:defRPr>
            </a:pPr>
            <a:r>
              <a:t>OLI2MSI — Landsat-8 → Sentinel-2 跨传感器图像翻译数据集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74980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任务：将 Landsat-8 OLI (30m) 图像翻译为 Sentinel-2 MSI (10m) 高质量图像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    本质为带域迁移的超分辨率重建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格式：GeoTIFF (.TIF) 多波段遥感图像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LR 输入：Landsat-8 OLI，30m 空间分辨率，单文件约 265 KB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HR 真值：Sentinel-2 MSI，10m 空间分辨率，单文件约 1.1 MB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命名：L8_{场景ID}_{日期}_S2B_{日期}_T{瓦片号}_N{块号}.TIF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5 个地理场景，2019-09-23 同日采集，按网格切分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    场景 ID：126038, 126039, 126040, 126041, 126042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0" y="1280160"/>
          <a:ext cx="62179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280160"/>
                <a:gridCol w="914400"/>
                <a:gridCol w="292608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集合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图像对数量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场景数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训练集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5,225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 个场景按网格均匀分块</a:t>
                      </a:r>
                    </a:p>
                  </a:txBody>
                  <a:tcPr anchor="ctr"/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测试集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同一场景中取不重叠块</a:t>
                      </a:r>
                    </a:p>
                  </a:txBody>
                  <a:tcPr anchor="ctr"/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合计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5,325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Landsat-8 → Sentinel-2 一一配对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0000"/>
                </a:solidFill>
                <a:latin typeface="Times New Roman"/>
              </a:defRPr>
            </a:pPr>
            <a:r>
              <a:t>CIDIS — 跨光谱图像配准数据集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6858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任务：热红外与可见光图像的跨光谱特征匹配与配准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来源：Rivadeneira et al., 2024, "Cross-Spectral Image Registration: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    a Comparative Study and a New Benchmark Dataset"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格式：热红外 + 可见光配对图像，均为 640×448，RGB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共 1,000 对：训练 700 / 验证 200 / 测试 100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目录：{thermal, visible} / {train, val, test}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场景涵盖多种真实环境，用于评估跨光谱配准算法性能</a:t>
            </a:r>
          </a:p>
        </p:txBody>
      </p:sp>
      <p:pic>
        <p:nvPicPr>
          <p:cNvPr id="4" name="Picture 3" descr="cidis_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280160"/>
            <a:ext cx="182880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2743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444444"/>
                </a:solidFill>
                <a:latin typeface="Times New Roman"/>
              </a:defRPr>
            </a:pPr>
            <a:r>
              <a:t>热红外</a:t>
            </a:r>
          </a:p>
        </p:txBody>
      </p:sp>
      <p:pic>
        <p:nvPicPr>
          <p:cNvPr id="6" name="Picture 5" descr="cidis_v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1280160"/>
            <a:ext cx="1828800" cy="1280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0" y="2743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444444"/>
                </a:solidFill>
                <a:latin typeface="Times New Roman"/>
              </a:defRPr>
            </a:pPr>
            <a:r>
              <a:t>可见光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5303520"/>
          <a:ext cx="43891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集合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热红外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可见光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总计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训练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700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700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700 对</a:t>
                      </a:r>
                    </a:p>
                  </a:txBody>
                  <a:tcPr anchor="ctr"/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验证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200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200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200 对</a:t>
                      </a:r>
                    </a:p>
                  </a:txBody>
                  <a:tcPr anchor="ctr"/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测试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100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100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100 对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0000"/>
                </a:solidFill>
                <a:latin typeface="Times New Roman"/>
              </a:defRPr>
            </a:pPr>
            <a:r>
              <a:t>CIDIS_guided_x8x16 — 可见光引导红外超分辨率数据集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6858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任务：以可见光图像为引导，对热红外图像进行 ×8 和 ×16 超分辨率重建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基于 CIDIS 数据集构建，添加合成退化（下采样）生成 LR 图像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热红外 GT：640×448，LR×8：80×56，LR×16：40×28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可见光引导图：640×448（与 GT 同尺寸，提供高频纹理引导）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目录结构：{thermal, visible} / {train, val, test}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    thermal 内含 {GT, LR_x8, LR_x16} 子目录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训练 700 对 / 验证 200 对 / 测试 40 对（×8 和 ×16 各 40 张）</a:t>
            </a:r>
          </a:p>
        </p:txBody>
      </p:sp>
      <p:pic>
        <p:nvPicPr>
          <p:cNvPr id="4" name="Picture 3" descr="cg_GT 6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280160"/>
            <a:ext cx="2194560" cy="15361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248716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444444"/>
                </a:solidFill>
                <a:latin typeface="Times New Roman"/>
              </a:defRPr>
            </a:pPr>
            <a:r>
              <a:t>GT 640×448</a:t>
            </a:r>
          </a:p>
        </p:txBody>
      </p:sp>
      <p:pic>
        <p:nvPicPr>
          <p:cNvPr id="6" name="Picture 5" descr="cg_可见光引导 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3840480"/>
            <a:ext cx="2194560" cy="15361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50474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444444"/>
                </a:solidFill>
                <a:latin typeface="Times New Roman"/>
              </a:defRPr>
            </a:pPr>
            <a:r>
              <a:t>可见光引导 640×448</a:t>
            </a:r>
          </a:p>
        </p:txBody>
      </p:sp>
      <p:pic>
        <p:nvPicPr>
          <p:cNvPr id="8" name="Picture 7" descr="cg_LR×8 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4663440"/>
            <a:ext cx="640080" cy="4480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501548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444444"/>
                </a:solidFill>
                <a:latin typeface="Times New Roman"/>
              </a:defRPr>
            </a:pPr>
            <a:r>
              <a:t>LR×8 80×56</a:t>
            </a:r>
          </a:p>
        </p:txBody>
      </p:sp>
      <p:pic>
        <p:nvPicPr>
          <p:cNvPr id="10" name="Picture 9" descr="cg_LR×16 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0" y="5943600"/>
            <a:ext cx="320040" cy="2240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611962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444444"/>
                </a:solidFill>
                <a:latin typeface="Times New Roman"/>
              </a:defRPr>
            </a:pPr>
            <a:r>
              <a:t>LR×16 40×28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5303520"/>
          <a:ext cx="75895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560320"/>
                <a:gridCol w="164592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集合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热红外 (GT/LR×8/LR×16)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可见光引导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分辨率变化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训练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700×3 = 2,100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700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640×448 → 80×56 / 40×28</a:t>
                      </a:r>
                    </a:p>
                  </a:txBody>
                  <a:tcPr anchor="ctr"/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验证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200×3 = 600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200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</a:p>
                  </a:txBody>
                  <a:tcPr anchor="ctr"/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测试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40×2 = 80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40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×8 / ×16 各 40 张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0000"/>
                </a:solidFill>
                <a:latin typeface="Times New Roman"/>
              </a:defRPr>
            </a:pPr>
            <a:r>
              <a:t>总结与对比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371600"/>
          <a:ext cx="1078992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828800"/>
                <a:gridCol w="2011680"/>
                <a:gridCol w="1828800"/>
                <a:gridCol w="1828800"/>
                <a:gridCol w="2194560"/>
              </a:tblGrid>
              <a:tr h="56692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Infrared SR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VEDAI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OLI2MSI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CIDIS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CIDIS_guided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任务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单图超分辨率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车辆目标检测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跨传感器翻译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跨光谱配准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引导式超分辨率</a:t>
                      </a:r>
                    </a:p>
                  </a:txBody>
                  <a:tcPr anchor="ctr"/>
                </a:tc>
              </a:tr>
              <a:tr h="566928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模态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红外热成像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(灰度)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RGB + IR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(双模态)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L8 + S2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多光谱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热红外 +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可见光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热红外 +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可见光引导</a:t>
                      </a:r>
                    </a:p>
                  </a:txBody>
                  <a:tcPr anchor="ctr"/>
                </a:tc>
              </a:tr>
              <a:tr h="566928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分辨率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HR 640×512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LR 160×128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512 / 1024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LR 30m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HR 10m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640×448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GT 640×448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LR×16 40×28</a:t>
                      </a:r>
                    </a:p>
                  </a:txBody>
                  <a:tcPr anchor="ctr"/>
                </a:tc>
              </a:tr>
              <a:tr h="566928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格式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JPEG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PNG + TXT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GeoTIFF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图像文件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图像文件</a:t>
                      </a:r>
                    </a:p>
                  </a:txBody>
                  <a:tcPr anchor="ctr"/>
                </a:tc>
              </a:tr>
              <a:tr h="566928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规模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7,121 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1,246 张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3,706 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5,325 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1,000 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700+200+40</a:t>
                      </a:r>
                    </a:p>
                  </a:txBody>
                  <a:tcPr anchor="ctr"/>
                </a:tc>
              </a:tr>
              <a:tr h="566928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划分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train/val/test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 折 CV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train/test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train/val/test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train/val/test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444444"/>
                </a:solidFill>
                <a:latin typeface="Times New Roman"/>
              </a:defRPr>
            </a:pPr>
            <a:r>
              <a:t>五个数据集覆盖了红外遥感领域从像素级重建、目标检测、跨传感器增强、跨光谱配准到引导式超分的完整任务链。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