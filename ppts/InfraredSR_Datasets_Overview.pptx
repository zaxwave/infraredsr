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InfraredSR 项目数据集介绍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555555"/>
                </a:solidFill>
                <a:latin typeface="Times New Roman"/>
              </a:defRPr>
            </a:pPr>
            <a:r>
              <a:t>红外遥感方向五个数据集</a:t>
            </a:r>
          </a:p>
          <a:p>
            <a:pPr>
              <a:spcAft>
                <a:spcPts val="400"/>
              </a:spcAft>
              <a:defRPr sz="1800">
                <a:solidFill>
                  <a:srgbClr val="555555"/>
                </a:solidFill>
                <a:latin typeface="Times New Roman"/>
              </a:defRPr>
            </a:pPr>
            <a:r>
              <a:t>超分辨率重建 · 航拍车辆检测 · 跨传感器图像翻译 · 跨光谱配准 · 可见光引导超分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数据集总览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.0" y="1188720"/>
          <a:ext cx="1051560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2011680"/>
                <a:gridCol w="2377440"/>
                <a:gridCol w="2468880"/>
              </a:tblGrid>
              <a:tr h="74980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数据集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任务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模态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分辨率 / 尺度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规模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Infrared SR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红外图像超分辨率 (×2, ×4)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红外热成像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(单通道灰度)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HR 640×512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LR×2 320×256 / LR×4 160×128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7,121 对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训练 4,983 / 验证 1,069 / 测试 1,069</a:t>
                      </a:r>
                    </a:p>
                  </a:txBody>
                  <a:tcPr anchor="ctr"/>
                </a:tc>
              </a:tr>
              <a:tr h="749808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VEDAI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航拍车辆检测 (8 类)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可见光 RGB + 红外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(双模态配对)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512×512 / 1024×1024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1,246 张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3,706 目标框 / 5 折交叉验证</a:t>
                      </a:r>
                    </a:p>
                  </a:txBody>
                  <a:tcPr anchor="ctr"/>
                </a:tc>
              </a:tr>
              <a:tr h="749808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OLI2MSI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跨传感器图像翻译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(Landsat-8 → Sentinel-2)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多光谱卫星遥感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(GeoTIFF)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 30m → HR 10m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5,325 对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训练 5,225 / 测试 100</a:t>
                      </a:r>
                    </a:p>
                  </a:txBody>
                  <a:tcPr anchor="ctr"/>
                </a:tc>
              </a:tr>
              <a:tr h="749808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CIDIS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跨光谱图像配准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(热红外 ↔ 可见光)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热红外 + 可见光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(配对)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640×448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1,000 对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训练 700 / 验证 200 / 测试 100</a:t>
                      </a:r>
                    </a:p>
                  </a:txBody>
                  <a:tcPr anchor="ctr"/>
                </a:tc>
              </a:tr>
              <a:tr h="749808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CIDIS_guided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可见光引导红外超分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(×8, ×16)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热红外 + 可见光引导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(配对)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GT 640×448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LR×8 80×56 / LR×16 40×28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训练 700 / 验证 200</a:t>
                      </a:r>
                    </a:p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测试 40 (×8 + ×16)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Infrared SR — 红外图像超分辨率数据集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6858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任务：单帧红外图像超分辨率重建 (×2, ×4)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格式：JPEG 灰度图像 (8-bit)，HR 与 LR 文件名一一对应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分辨率：HR 640×512，LR×2 320×256，LR×4 160×128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目录：{trainsets, valsets, testsets} / {HR, LRx2, LRx4}</a:t>
            </a:r>
          </a:p>
        </p:txBody>
      </p:sp>
      <p:pic>
        <p:nvPicPr>
          <p:cNvPr id="4" name="Picture 3" descr="img_68146299053443621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26080"/>
            <a:ext cx="2743200" cy="2194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19379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  <a:latin typeface="Times New Roman"/>
              </a:defRPr>
            </a:pPr>
            <a:r>
              <a:t>HR 640×512</a:t>
            </a:r>
          </a:p>
        </p:txBody>
      </p:sp>
      <p:pic>
        <p:nvPicPr>
          <p:cNvPr id="6" name="Picture 5" descr="img_86303879602219893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2926080"/>
            <a:ext cx="1371600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23360" y="409651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  <a:latin typeface="Times New Roman"/>
              </a:defRPr>
            </a:pPr>
            <a:r>
              <a:t>LR×2 320×256</a:t>
            </a:r>
          </a:p>
        </p:txBody>
      </p:sp>
      <p:pic>
        <p:nvPicPr>
          <p:cNvPr id="8" name="Picture 7" descr="img_9890890333960713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926080"/>
            <a:ext cx="68580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52160" y="3547872"/>
            <a:ext cx="685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  <a:latin typeface="Times New Roman"/>
              </a:defRPr>
            </a:pPr>
            <a:r>
              <a:t>LR×4 160×128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749040.0" y="5669280"/>
          <a:ext cx="466344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集合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HR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LR×2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LR×4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训练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4,983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4,983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4,983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验证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1,069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测试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1,069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1,069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1,069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VEDAI — 航拍车辆检测数据集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任务：航拍视角多类车辆目标检测，提供配对可见光与红外图像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格式：PNG 图像 (*_co.png 可见光, *_ir.png 红外) + YOLO 标注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版本：VEDAI (512×512) 和 VEDAI_1024 (1024×1024)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划分：5 折交叉验证 (fold01~fold05.txt)，1,246 张标注图</a:t>
            </a:r>
          </a:p>
        </p:txBody>
      </p:sp>
      <p:pic>
        <p:nvPicPr>
          <p:cNvPr id="4" name="Picture 3" descr="img_2435266517546005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017520"/>
            <a:ext cx="2286000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537667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  <a:latin typeface="Times New Roman"/>
              </a:defRPr>
            </a:pPr>
            <a:r>
              <a:t>可见光 RGB (00000000_co.png)</a:t>
            </a:r>
          </a:p>
        </p:txBody>
      </p:sp>
      <p:pic>
        <p:nvPicPr>
          <p:cNvPr id="6" name="Picture 5" descr="img_74014878597872636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3017520"/>
            <a:ext cx="22860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0" y="537667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  <a:latin typeface="Times New Roman"/>
              </a:defRPr>
            </a:pPr>
            <a:r>
              <a:t>红外 IR (00000000_ir.png)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811780.0" y="5303520"/>
          <a:ext cx="6537960" cy="694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类别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轿车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卡车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皮卡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拖拉机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房车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船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其他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数量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955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397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307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204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190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171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1,377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OLI2MSI — Landsat-8 → Sentinel-2 跨传感器图像翻译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任务：Landsat-8 OLI (30m) 翻译为 Sentinel-2 MSI (10m)，带域迁移的超分重建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格式：GeoTIFF (.TIF) 多波段遥感图像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LR 输入：Landsat-8 OLI, 30m, 单文件约 265 KB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HR 真值：Sentinel-2 MSI, 10m, 单文件约 1.1 MB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5 个地理场景 (ID: 126038~126042)，2019-09-23 同日采集，网格切分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命名：L8_{场景ID}_{日期}_S2B_{日期}_T{瓦片号}_N{块号}.TIF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926080.0" y="4114800"/>
          <a:ext cx="630936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914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集合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图像对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场景数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训练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5,225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 个场景按网格均匀分块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测试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同一场景中取不重叠块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合计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5,325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Landsat-8 → Sentinel-2 一一配对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CIDIS — 跨光谱图像配准数据集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6858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任务：热红外与可见光图像的跨光谱特征匹配与配准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来源：Rivadeneira et al., 2024, Cross-Spectral Image Registration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格式：热红外 + 可见光配对图像，均为 640×448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共 1,000 对：训练 700 / 验证 200 / 测试 100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目录：{thermal, visible} / {train, val, test}</a:t>
            </a:r>
          </a:p>
        </p:txBody>
      </p:sp>
      <p:pic>
        <p:nvPicPr>
          <p:cNvPr id="4" name="Picture 3" descr="img_1694336634703300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291840"/>
            <a:ext cx="2286000" cy="1600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496519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  <a:latin typeface="Times New Roman"/>
              </a:defRPr>
            </a:pPr>
            <a:r>
              <a:t>热红外示例</a:t>
            </a:r>
          </a:p>
        </p:txBody>
      </p:sp>
      <p:pic>
        <p:nvPicPr>
          <p:cNvPr id="6" name="Picture 5" descr="img_56494567370018137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3291840"/>
            <a:ext cx="2286000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496519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555555"/>
                </a:solidFill>
                <a:latin typeface="Times New Roman"/>
              </a:defRPr>
            </a:pPr>
            <a:r>
              <a:t>可见光示例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886200.0" y="5669280"/>
          <a:ext cx="438912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集合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热红外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可见光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总计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训练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700 对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验证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200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200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200 对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测试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100 对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CIDIS_guided_x8x16 — 可见光引导红外超分辨率数据集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6858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任务：以可见光为引导，对热红外图像进行 ×8 和 ×16 超分辨率重建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基于 CIDIS 构建，合成退化生成 LR；GT 640×448, LR×8 80×56, LR×16 40×28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可见光引导图 640×448 (提供高频纹理引导)</a:t>
            </a:r>
          </a:p>
          <a:p>
            <a:pPr>
              <a:spcAft>
                <a:spcPts val="4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训练 700 对 / 验证 200 对 / 测试 40 对 (×8 和 ×16 各 40 张)</a:t>
            </a:r>
          </a:p>
        </p:txBody>
      </p:sp>
      <p:pic>
        <p:nvPicPr>
          <p:cNvPr id="4" name="Picture 3" descr="img_1694336634703300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17520"/>
            <a:ext cx="2011680" cy="14081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49884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GT 640×448</a:t>
            </a:r>
          </a:p>
        </p:txBody>
      </p:sp>
      <p:pic>
        <p:nvPicPr>
          <p:cNvPr id="6" name="Picture 5" descr="img_56494567370018137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3017520"/>
            <a:ext cx="2011680" cy="14081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08960" y="449884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可见光引导 640×448</a:t>
            </a:r>
          </a:p>
        </p:txBody>
      </p:sp>
      <p:pic>
        <p:nvPicPr>
          <p:cNvPr id="8" name="Picture 7" descr="img_87876451410898604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3017520"/>
            <a:ext cx="640080" cy="4480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94960" y="3538728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LR×8</a:t>
            </a:r>
          </a:p>
          <a:p>
            <a:pPr>
              <a:spcAft>
                <a:spcPts val="400"/>
              </a:spcAft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80×56</a:t>
            </a:r>
          </a:p>
        </p:txBody>
      </p:sp>
      <p:pic>
        <p:nvPicPr>
          <p:cNvPr id="10" name="Picture 9" descr="img_659641081732324267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017520"/>
            <a:ext cx="320040" cy="2240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3314700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LR×16</a:t>
            </a:r>
          </a:p>
          <a:p>
            <a:pPr>
              <a:spcAft>
                <a:spcPts val="400"/>
              </a:spcAft>
              <a:defRPr sz="1000">
                <a:solidFill>
                  <a:srgbClr val="555555"/>
                </a:solidFill>
                <a:latin typeface="Times New Roman"/>
              </a:defRPr>
            </a:pPr>
            <a:r>
              <a:t>40×28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286000.0" y="5029200"/>
          <a:ext cx="758952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560320"/>
                <a:gridCol w="164592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集合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热红外 (GT/LR×8/LR×16)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可见光引导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分辨率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训练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700×3 = 2,100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640×448 → 80×56 / 40×28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验证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200×3 = 600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200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测试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40×2 = 80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40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×8 / ×16 各 40 张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总结与对比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.0" y="1280160"/>
          <a:ext cx="10332720" cy="3712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737360"/>
                <a:gridCol w="1828800"/>
                <a:gridCol w="1828800"/>
                <a:gridCol w="1828800"/>
                <a:gridCol w="2011680"/>
              </a:tblGrid>
              <a:tr h="53035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Infrared SR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VEDAI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OLI2MSI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CIDIS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CIDIS_guided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任务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单图超分辨率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车辆目标检测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跨传感器翻译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跨光谱配准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引导式超分</a:t>
                      </a:r>
                    </a:p>
                  </a:txBody>
                  <a:tcPr anchor="ctr"/>
                </a:tc>
              </a:tr>
              <a:tr h="530352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模态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红外热成像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RGB + IR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L8 + S2 多光谱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热红外 + 可见光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热红外 + 可见光</a:t>
                      </a:r>
                    </a:p>
                  </a:txBody>
                  <a:tcPr anchor="ctr"/>
                </a:tc>
              </a:tr>
              <a:tr h="530352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分辨率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HR 640×512</a:t>
                      </a:r>
                    </a:p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LR×4 160×128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512 / 1024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 30m → HR 10m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640×448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GT 640×448</a:t>
                      </a:r>
                    </a:p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LR×16 40×28</a:t>
                      </a:r>
                    </a:p>
                  </a:txBody>
                  <a:tcPr anchor="ctr"/>
                </a:tc>
              </a:tr>
              <a:tr h="530352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格式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JPEG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PNG + TXT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GeoTIFF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图像文件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图像文件</a:t>
                      </a:r>
                    </a:p>
                  </a:txBody>
                  <a:tcPr anchor="ctr"/>
                </a:tc>
              </a:tr>
              <a:tr h="530352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规模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7,121 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1,246 张 / 3,706 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5,325 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1,000 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940 对</a:t>
                      </a:r>
                    </a:p>
                  </a:txBody>
                  <a:tcPr anchor="ctr"/>
                </a:tc>
              </a:tr>
              <a:tr h="530352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划分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train/val/test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 折交叉验证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train/test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train/val/test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train/val/test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555555"/>
                </a:solidFill>
                <a:latin typeface="Times New Roman"/>
              </a:defRPr>
            </a:pPr>
            <a:r>
              <a:t>五个数据集覆盖红外遥感领域从像素级重建、目标检测、跨传感器增强、跨光谱配准到引导式超分的完整任务链。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