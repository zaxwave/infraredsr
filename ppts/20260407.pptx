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6" r:id="rId18"/>
    <p:sldId id="275" r:id="rId19"/>
    <p:sldId id="273" r:id="rId20"/>
    <p:sldId id="27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E790D-87C0-ACB5-5EED-1E9FBF0A7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41D1A5-737D-559D-48F5-9C68FDD8E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CD5F02-7BAC-933E-0D9B-0AD810DAC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A3BA9-04F2-EE9A-0143-B0777FA3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5E32D1-2B15-D0EB-73AD-A401C324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04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1BF2D-0AA0-C7DC-87CE-07CCD26F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81578-1D1E-49E0-DC0F-014F1896D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E402F9-32CC-0A1F-DC8D-B9E02297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20870-C135-2759-B9B9-903D038B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06FB02-0B03-67F6-DC8E-83CD4AF7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65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092FA-CF03-1CD8-B436-A4835F07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1B15A2-0E2F-C2C4-BD12-F5E8E6738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D408CB-6F0B-D400-6E3F-5EF8CD69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FA1BB3-6B7B-64C0-E240-FD1B543A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9C65C-C53C-1FB8-CCDC-01E8D8CB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40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8DC15-AF03-F162-624C-2468D50D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275D2C-0464-D445-8DD1-3FB0BF1CC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B9FA3E-B16E-7EEB-BCC2-64BF82C31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AB10D1-1B50-B545-786E-5983581F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56EE64-CAB9-B06E-B587-C7AD5829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C14401-1912-5FC6-4706-B92B94305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61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D83D17-C7F9-9178-06EA-1EDACC98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7691B-C128-E59E-3586-3A2BC035E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1F7D67-4005-FF66-C91B-71FA828ED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60E185-3C7D-8128-E65D-3FFB4E524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521593-2D7B-03C0-FA0E-00790D6B5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5DF57A-038E-D260-9DE1-8E439938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4B5543-B8FC-C87A-F1F5-742EC28C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717FD8-4708-5FDF-838D-04E35D9D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84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18711-C906-D709-B4F3-67076963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628AD4-1C0E-9EC8-2729-8653E5C07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A65854-58DC-049C-2756-0D23C283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892E0A-5DAF-37D8-7B59-D3BA88BB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8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76B2D3-501D-5AB8-C992-5CD61F767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54890C-2D2B-6D66-D699-A8C6903A5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89FF87-37ED-7A67-0BC1-001AE8CFE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68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53218-D1A1-B30E-E2C0-E2DC5F64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74EAF4-0B58-F76E-7C0B-6C4EEBC15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434A7B-8532-0020-6A32-6A5EAD20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9B926-F2B4-DEAC-0058-71455482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E3C285-1C6C-CC65-8D9C-64CA490A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047AB6-5108-04D0-31AA-8C6C798F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05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839E2-BBCB-C173-A1D5-A95898F4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131046-095E-E43B-CCB4-EF7036728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3150E7-7553-E621-5D49-FD3CBE566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18B5B0-8669-9E2A-02C9-FC03E84A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9DE883-8920-90B7-490C-E45CC47B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F2C7CB-1D94-3CAD-9F92-47E82530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93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E5C5C-A908-2DE1-B3F5-B700C0A3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181E59-07E2-9EFE-2941-9F10C0922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AF720A-D58B-5FA6-9F56-38BEF9151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DE3140-3B19-334E-78F7-961E6002C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527BC7-7452-80D8-77F1-9F40F7356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67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851DFD-E19A-5545-3D7B-92C648DA3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658167-D093-9E54-0AD0-E4F8BBE5E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20C630-7794-3571-01AD-E264FC80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E9C60-E611-15CB-C104-FE8545B3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8AE49-068A-A33A-A271-127723E5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697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C29704-B780-9DEC-1057-BD7F867A4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162249-DA69-5AF5-75FF-6BC879029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38AF62-DDDB-B348-3CD9-766505F59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181C5-2E3C-4198-BDEE-C349F66C3AD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69885E-7B7A-D400-912C-FE1DC0886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D56380-A11D-6C4D-656B-CE4FE29F2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1DF5D-4269-40B9-B204-90AF7542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402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DE3475E-316E-F3FC-2C64-4119320BA655}"/>
              </a:ext>
            </a:extLst>
          </p:cNvPr>
          <p:cNvSpPr txBox="1"/>
          <p:nvPr/>
        </p:nvSpPr>
        <p:spPr>
          <a:xfrm>
            <a:off x="1189150" y="369075"/>
            <a:ext cx="9813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ZERO-SHOT IMAGE RESTORATION USING  DENOISING DIFFUSION NULL-SPACE MODEL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FE5792-B96C-24E5-20BD-1BD2DB09BC99}"/>
              </a:ext>
            </a:extLst>
          </p:cNvPr>
          <p:cNvSpPr txBox="1"/>
          <p:nvPr/>
        </p:nvSpPr>
        <p:spPr>
          <a:xfrm>
            <a:off x="2012194" y="2136338"/>
            <a:ext cx="816761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研究背景与痛点：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模型缺乏泛化性： 现有的端到端深度学习图像恢复（</a:t>
            </a:r>
            <a:r>
              <a:rPr lang="en-US" altLang="zh-CN" dirty="0"/>
              <a:t>IR</a:t>
            </a:r>
            <a:r>
              <a:rPr lang="zh-CN" altLang="en-US" dirty="0"/>
              <a:t>）模型多为特定任务定制，需针对不同任务分别训练，难以泛化。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表现与解释性不足： 端到端模型缺乏可解释性，且面临领域偏移（</a:t>
            </a:r>
            <a:r>
              <a:rPr lang="en-US" altLang="zh-CN" dirty="0"/>
              <a:t>Domain shift</a:t>
            </a:r>
            <a:r>
              <a:rPr lang="zh-CN" altLang="en-US" dirty="0"/>
              <a:t>）时性能较差。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真实性 </a:t>
            </a:r>
            <a:r>
              <a:rPr lang="en-US" altLang="zh-CN" dirty="0"/>
              <a:t>vs </a:t>
            </a:r>
            <a:r>
              <a:rPr lang="zh-CN" altLang="en-US" dirty="0"/>
              <a:t>一致性： 基于生成模型的零样本（</a:t>
            </a:r>
            <a:r>
              <a:rPr lang="en-US" altLang="zh-CN" dirty="0"/>
              <a:t>Zero-shot</a:t>
            </a:r>
            <a:r>
              <a:rPr lang="zh-CN" altLang="en-US" dirty="0"/>
              <a:t>）方法往往难以平衡结果的真实性（</a:t>
            </a:r>
            <a:r>
              <a:rPr lang="en-US" altLang="zh-CN" dirty="0"/>
              <a:t>Realness</a:t>
            </a:r>
            <a:r>
              <a:rPr lang="zh-CN" altLang="en-US" dirty="0"/>
              <a:t>）与数据一致性（</a:t>
            </a:r>
            <a:r>
              <a:rPr lang="en-US" altLang="zh-CN" dirty="0"/>
              <a:t>Data consistency</a:t>
            </a:r>
            <a:r>
              <a:rPr lang="zh-CN" altLang="en-US" dirty="0"/>
              <a:t>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44086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1B35-16F4-DBEA-DE82-5C9A5D04B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EC0CB6B-103D-B24D-9AE6-8EC1D6B71EC3}"/>
              </a:ext>
            </a:extLst>
          </p:cNvPr>
          <p:cNvSpPr txBox="1"/>
          <p:nvPr/>
        </p:nvSpPr>
        <p:spPr>
          <a:xfrm>
            <a:off x="1189150" y="369075"/>
            <a:ext cx="9813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ZERO-SHOT IMAGE RESTORATION USING  DENOISING DIFFUSION NULL-SPACE MODEL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D6225F-FDAC-247E-8C11-1131EBC9E0A5}"/>
                  </a:ext>
                </a:extLst>
              </p:cNvPr>
              <p:cNvSpPr txBox="1"/>
              <p:nvPr/>
            </p:nvSpPr>
            <p:spPr>
              <a:xfrm>
                <a:off x="720064" y="1523655"/>
                <a:ext cx="10751871" cy="4965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1. </a:t>
                </a:r>
                <a:r>
                  <a:rPr lang="zh-CN" altLang="en-US" dirty="0"/>
                  <a:t>图像退化的数学定义</a:t>
                </a:r>
              </a:p>
              <a:p>
                <a:r>
                  <a:rPr lang="zh-CN" altLang="en-US" dirty="0"/>
                  <a:t>图像退化过简化为矩阵乘法：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zh-CN" altLang="en-US" dirty="0"/>
                  <a:t>观测到的退化图像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原始清晰图像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线性退化算子</a:t>
                </a:r>
                <a:endParaRPr lang="en-US" altLang="zh-CN" dirty="0"/>
              </a:p>
              <a:p>
                <a:endParaRPr lang="zh-CN" altLang="en-US" dirty="0"/>
              </a:p>
              <a:p>
                <a:r>
                  <a:rPr lang="en-US" altLang="zh-CN" dirty="0"/>
                  <a:t>2. </a:t>
                </a:r>
                <a:r>
                  <a:rPr lang="zh-CN" altLang="en-US" dirty="0"/>
                  <a:t>值域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零空间分解 </a:t>
                </a:r>
                <a:endParaRPr lang="en-US" altLang="zh-CN" dirty="0"/>
              </a:p>
              <a:p>
                <a:r>
                  <a:rPr lang="zh-CN" altLang="en-US" dirty="0"/>
                  <a:t>利用伪逆矩阵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zh-CN" altLang="en-US" dirty="0"/>
                  <a:t>，任何图像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都可以被完美数学拆解为两部分：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🔵 值域空间 </a:t>
                </a:r>
                <a:r>
                  <a:rPr lang="en-US" altLang="zh-CN" dirty="0"/>
                  <a:t>(Range-space)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退化后幸存下来的已知信息。它决定了图像的“数据一致性”。由于已知 </a:t>
                </a:r>
                <a:r>
                  <a:rPr lang="en-US" altLang="zh-CN" dirty="0"/>
                  <a:t>y=Ax</a:t>
                </a:r>
                <a:r>
                  <a:rPr lang="zh-CN" altLang="en-US" dirty="0"/>
                  <a:t>，这部分可以直接用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确定下来。对其再次施加破坏，结果依然是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</a:p>
              <a:p>
                <a:r>
                  <a:rPr lang="zh-CN" altLang="en-US" dirty="0"/>
                  <a:t>🔴 零空间 </a:t>
                </a:r>
                <a:r>
                  <a:rPr lang="en-US" altLang="zh-CN" dirty="0"/>
                  <a:t>(Null-space)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†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退化过程中丢失的细节（如高频纹理）。它决定了图像的“真实性”。经过退化算子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破坏后结果是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≡0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9D6225F-FDAC-247E-8C11-1131EBC9E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64" y="1523655"/>
                <a:ext cx="10751871" cy="4965270"/>
              </a:xfrm>
              <a:prstGeom prst="rect">
                <a:avLst/>
              </a:prstGeom>
              <a:blipFill>
                <a:blip r:embed="rId2"/>
                <a:stretch>
                  <a:fillRect l="-454" t="-737" r="-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39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1AB40-3B41-8764-C8A0-044ED053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15B3B53-3196-90B0-F415-11C4093C2D03}"/>
              </a:ext>
            </a:extLst>
          </p:cNvPr>
          <p:cNvSpPr txBox="1"/>
          <p:nvPr/>
        </p:nvSpPr>
        <p:spPr>
          <a:xfrm>
            <a:off x="1189150" y="369075"/>
            <a:ext cx="9813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ZERO-SHOT IMAGE RESTORATION USING  DENOISING DIFFUSION NULL-SPACE MODEL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7578BFF-D105-C62B-1DFD-58D69DD7F918}"/>
                  </a:ext>
                </a:extLst>
              </p:cNvPr>
              <p:cNvSpPr txBox="1"/>
              <p:nvPr/>
            </p:nvSpPr>
            <p:spPr>
              <a:xfrm>
                <a:off x="973282" y="1200072"/>
                <a:ext cx="10515892" cy="15022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迭代优化零空间 </a:t>
                </a:r>
                <a:endParaRPr lang="en-US" altLang="zh-CN" dirty="0"/>
              </a:p>
              <a:p>
                <a:r>
                  <a:rPr lang="zh-CN" altLang="en-US" dirty="0"/>
                  <a:t>利用预训练扩散模型，在逆推的第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步预测出纯净原图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0|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，并强制执行空间替换：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  <a:p>
                <a:r>
                  <a:rPr lang="zh-CN" altLang="en-US" dirty="0"/>
                  <a:t>用真实数据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替换掉模型猜错的值域部分，保留模型生成的零空间细节。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7578BFF-D105-C62B-1DFD-58D69DD7F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82" y="1200072"/>
                <a:ext cx="10515892" cy="1502206"/>
              </a:xfrm>
              <a:prstGeom prst="rect">
                <a:avLst/>
              </a:prstGeom>
              <a:blipFill>
                <a:blip r:embed="rId2"/>
                <a:stretch>
                  <a:fillRect l="-522" t="-2439" b="-5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D23374-CFF7-B958-F90E-48BA82B83AB7}"/>
                  </a:ext>
                </a:extLst>
              </p:cNvPr>
              <p:cNvSpPr txBox="1"/>
              <p:nvPr/>
            </p:nvSpPr>
            <p:spPr>
              <a:xfrm>
                <a:off x="520375" y="4677625"/>
                <a:ext cx="11151250" cy="1830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绝大多数常见图像恢复任务，无需奇异值分解</a:t>
                </a:r>
                <a:r>
                  <a:rPr lang="en-US" altLang="zh-CN" dirty="0"/>
                  <a:t>(SVD)</a:t>
                </a:r>
                <a:r>
                  <a:rPr lang="zh-CN" altLang="en-US" dirty="0"/>
                  <a:t>或傅里叶变换，手工构造 </a:t>
                </a:r>
                <a:r>
                  <a:rPr lang="en-US" altLang="zh-CN" dirty="0"/>
                  <a:t>A </a:t>
                </a:r>
                <a:r>
                  <a:rPr lang="zh-CN" altLang="en-US" dirty="0"/>
                  <a:t>和伪逆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图像修复：退化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遮罩 </a:t>
                </a:r>
                <a:r>
                  <a:rPr lang="en-US" altLang="zh-CN" dirty="0"/>
                  <a:t>(Mask)</a:t>
                </a:r>
                <a:r>
                  <a:rPr lang="zh-CN" altLang="en-US" dirty="0"/>
                  <a:t>；伪逆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直接等于遮罩自身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满足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𝐴𝐴𝐴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黑白上色：退化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: RGB </a:t>
                </a:r>
                <a:r>
                  <a:rPr lang="zh-CN" altLang="en-US" dirty="0"/>
                  <a:t>三通道平均化为单通道灰度值；伪逆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将单通道灰度值复制 </a:t>
                </a:r>
                <a:r>
                  <a:rPr lang="en-US" altLang="zh-CN" dirty="0"/>
                  <a:t>3 </a:t>
                </a:r>
                <a:r>
                  <a:rPr lang="zh-CN" altLang="en-US" dirty="0"/>
                  <a:t>份填回 </a:t>
                </a:r>
                <a:r>
                  <a:rPr lang="en-US" altLang="zh-CN" dirty="0"/>
                  <a:t>RGB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超分辨率：退化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区域平均池化；伪逆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</m:oMath>
                </a14:m>
                <a:r>
                  <a:rPr lang="en-US" altLang="zh-CN" dirty="0"/>
                  <a:t>: </a:t>
                </a:r>
                <a:r>
                  <a:rPr lang="zh-CN" altLang="en-US" dirty="0"/>
                  <a:t>直接空间复制 ，将单像素值复制填满高分辨率区域。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老照片修复：复合退化拆解为子操作的乘积：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/>
                  <a:t>（如：破损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变糊 </a:t>
                </a:r>
                <a:r>
                  <a:rPr lang="en-US" altLang="zh-CN" dirty="0"/>
                  <a:t>+ </a:t>
                </a:r>
                <a:r>
                  <a:rPr lang="zh-CN" altLang="en-US" dirty="0"/>
                  <a:t>褪色）；其伪逆反向链式相乘：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bSup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bSup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D23374-CFF7-B958-F90E-48BA82B83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5" y="4677625"/>
                <a:ext cx="11151250" cy="1830566"/>
              </a:xfrm>
              <a:prstGeom prst="rect">
                <a:avLst/>
              </a:prstGeom>
              <a:blipFill>
                <a:blip r:embed="rId3"/>
                <a:stretch>
                  <a:fillRect l="-437" t="-1329" r="-437" b="-3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BF30145B-21BC-5348-A955-2B57B713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179" y="1951175"/>
            <a:ext cx="3062098" cy="3201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9D697A4-F858-9492-9CB0-BA31661F4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244" y="2722719"/>
            <a:ext cx="9911512" cy="188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8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1CB3-E9AD-C7ED-D13C-BBA7ABBD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55CCE80-62B4-4A7E-A7B3-312ED0136D70}"/>
              </a:ext>
            </a:extLst>
          </p:cNvPr>
          <p:cNvSpPr txBox="1"/>
          <p:nvPr/>
        </p:nvSpPr>
        <p:spPr>
          <a:xfrm>
            <a:off x="1189150" y="369075"/>
            <a:ext cx="9813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ZERO-SHOT IMAGE RESTORATION USING  DENOISING DIFFUSION NULL-SPACE MODEL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A87C39A-CC6F-14AC-7965-9E9F98755912}"/>
                  </a:ext>
                </a:extLst>
              </p:cNvPr>
              <p:cNvSpPr txBox="1"/>
              <p:nvPr/>
            </p:nvSpPr>
            <p:spPr>
              <a:xfrm>
                <a:off x="1769503" y="1268570"/>
                <a:ext cx="9093827" cy="4636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zh-CN" dirty="0"/>
              </a:p>
              <a:p>
                <a:r>
                  <a:rPr lang="en-US" altLang="zh-CN" b="1" dirty="0"/>
                  <a:t>DDNM+</a:t>
                </a:r>
                <a:r>
                  <a:rPr lang="zh-CN" altLang="en-US" b="1" dirty="0"/>
                  <a:t>：</a:t>
                </a:r>
              </a:p>
              <a:p>
                <a:r>
                  <a:rPr lang="zh-CN" altLang="en-US" dirty="0"/>
                  <a:t>真实观测数据含噪：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，会引入额外噪声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dirty="0"/>
              </a:p>
              <a:p>
                <a:endParaRPr lang="zh-CN" altLang="en-US" dirty="0"/>
              </a:p>
              <a:p>
                <a:r>
                  <a:rPr lang="zh-CN" altLang="en-US" dirty="0"/>
                  <a:t>引入动态双阀门机制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0" dirty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r>
                  <a:rPr lang="zh-CN" altLang="en-US" dirty="0"/>
                  <a:t>将原 </a:t>
                </a:r>
                <a:r>
                  <a:rPr lang="en-US" altLang="zh-CN" dirty="0"/>
                  <a:t>DDNM </a:t>
                </a:r>
                <a:r>
                  <a:rPr lang="zh-CN" altLang="en-US" dirty="0"/>
                  <a:t>的修正步骤修改为带缩放的版本：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用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控制真实数据注入量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用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控制原生噪声添加量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 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总噪声守恒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注入的噪声 </a:t>
                </a:r>
                <a:r>
                  <a:rPr lang="en-US" altLang="zh-CN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添加的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噪声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≡</m:t>
                    </m:r>
                  </m:oMath>
                </a14:m>
                <a:r>
                  <a:rPr lang="zh-CN" altLang="en-US" dirty="0"/>
                  <a:t>当前步扩散模型预期的标准总方差。  </a:t>
                </a:r>
                <a:endParaRPr lang="en-US" altLang="zh-CN" dirty="0"/>
              </a:p>
              <a:p>
                <a:r>
                  <a:rPr lang="en-US" altLang="zh-CN" dirty="0"/>
                  <a:t> (ii) </a:t>
                </a:r>
                <a:r>
                  <a:rPr lang="zh-CN" altLang="en-US" dirty="0"/>
                  <a:t>一致性最大化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应尽可能接近单位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阵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zh-CN" altLang="en-US" dirty="0"/>
                  <a:t>。</a:t>
                </a:r>
              </a:p>
              <a:p>
                <a:r>
                  <a:rPr lang="zh-CN" altLang="en-US" dirty="0"/>
                  <a:t>只需原图噪声水平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A87C39A-CC6F-14AC-7965-9E9F98755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503" y="1268570"/>
                <a:ext cx="9093827" cy="4636394"/>
              </a:xfrm>
              <a:prstGeom prst="rect">
                <a:avLst/>
              </a:prstGeom>
              <a:blipFill>
                <a:blip r:embed="rId2"/>
                <a:stretch>
                  <a:fillRect l="-5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图片 15">
            <a:extLst>
              <a:ext uri="{FF2B5EF4-FFF2-40B4-BE49-F238E27FC236}">
                <a16:creationId xmlns:a16="http://schemas.microsoft.com/office/drawing/2014/main" id="{852E7D12-0175-9073-1BDD-5C5D6BD3F281}"/>
              </a:ext>
            </a:extLst>
          </p:cNvPr>
          <p:cNvPicPr>
            <a:picLocks/>
          </p:cNvPicPr>
          <p:nvPr/>
        </p:nvPicPr>
        <p:blipFill>
          <a:blip r:embed="rId3"/>
          <a:srcRect t="1" r="1731" b="1732"/>
          <a:stretch>
            <a:fillRect/>
          </a:stretch>
        </p:blipFill>
        <p:spPr>
          <a:xfrm>
            <a:off x="4121875" y="3008988"/>
            <a:ext cx="3948247" cy="42001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35D4A87-2725-5F09-CB90-EB8D83A813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2"/>
          <a:stretch>
            <a:fillRect/>
          </a:stretch>
        </p:blipFill>
        <p:spPr>
          <a:xfrm>
            <a:off x="4121875" y="3865229"/>
            <a:ext cx="3948247" cy="4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49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2FD4-1FA5-5D06-C8C4-050DAF62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AA1024B-5631-A368-3991-749FC21721D6}"/>
              </a:ext>
            </a:extLst>
          </p:cNvPr>
          <p:cNvSpPr txBox="1"/>
          <p:nvPr/>
        </p:nvSpPr>
        <p:spPr>
          <a:xfrm>
            <a:off x="1189150" y="369075"/>
            <a:ext cx="9813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ZERO-SHOT IMAGE RESTORATION USING  DENOISING DIFFUSION NULL-SPACE MODEL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7BF40F7-1DE1-2BA8-85E4-F173CFDEA482}"/>
                  </a:ext>
                </a:extLst>
              </p:cNvPr>
              <p:cNvSpPr txBox="1"/>
              <p:nvPr/>
            </p:nvSpPr>
            <p:spPr>
              <a:xfrm>
                <a:off x="3773510" y="1318308"/>
                <a:ext cx="7969876" cy="3146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时间旅行策略 </a:t>
                </a:r>
                <a:r>
                  <a:rPr lang="en-US" altLang="zh-CN" dirty="0"/>
                  <a:t>(Time-Travel)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面对大倍数超分</a:t>
                </a:r>
                <a:r>
                  <a:rPr lang="en-US" altLang="zh-CN" dirty="0"/>
                  <a:t>(32x)</a:t>
                </a:r>
                <a:r>
                  <a:rPr lang="zh-CN" altLang="en-US" dirty="0"/>
                  <a:t>、大面积遮挡修复或低采样率压缩感知时，已知的值域空间内容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 太过局部或稀疏。导致模型在填补零空间时迷失方向，局部清晰但整体结构割裂、不和谐。</a:t>
                </a:r>
              </a:p>
              <a:p>
                <a:endParaRPr lang="zh-CN" alt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扩散后期对图像大框架的估计，比早期的估计准确得多。</a:t>
                </a:r>
              </a:p>
              <a:p>
                <a:r>
                  <a:rPr lang="zh-CN" altLang="en-US" dirty="0"/>
                  <a:t> </a:t>
                </a:r>
                <a:r>
                  <a:rPr lang="en-US" altLang="zh-CN" b="1" dirty="0"/>
                  <a:t>Time-Travel </a:t>
                </a:r>
                <a:r>
                  <a:rPr lang="zh-CN" altLang="en-US" b="1" dirty="0"/>
                  <a:t>机制： </a:t>
                </a:r>
                <a:r>
                  <a:rPr lang="zh-CN" altLang="en-US" dirty="0"/>
                  <a:t>在第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步，为当前图像注入特定量噪声，回退到第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步：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，从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步重新降噪。</a:t>
                </a:r>
              </a:p>
              <a:p>
                <a:endParaRPr lang="zh-CN" alt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7BF40F7-1DE1-2BA8-85E4-F173CFDEA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510" y="1318308"/>
                <a:ext cx="7969876" cy="3146439"/>
              </a:xfrm>
              <a:prstGeom prst="rect">
                <a:avLst/>
              </a:prstGeom>
              <a:blipFill>
                <a:blip r:embed="rId2"/>
                <a:stretch>
                  <a:fillRect l="-612" t="-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9B5CABB7-2DD6-B4D9-25CB-447A5CAAB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86" y="1200072"/>
            <a:ext cx="3381375" cy="2200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87F781F-D254-E26A-EF2E-09D7663DA003}"/>
                  </a:ext>
                </a:extLst>
              </p:cNvPr>
              <p:cNvSpPr txBox="1"/>
              <p:nvPr/>
            </p:nvSpPr>
            <p:spPr>
              <a:xfrm>
                <a:off x="3773510" y="4121318"/>
                <a:ext cx="59893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(travel length): </a:t>
                </a:r>
                <a:r>
                  <a:rPr lang="zh-CN" altLang="en-US" dirty="0"/>
                  <a:t>一次时光倒流回退的步数。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dirty="0"/>
                  <a:t> (interval): </a:t>
                </a:r>
                <a:r>
                  <a:rPr lang="zh-CN" altLang="en-US" dirty="0"/>
                  <a:t>每隔多少步触发一次时间旅行。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 (repeat times): </a:t>
                </a:r>
                <a:r>
                  <a:rPr lang="zh-CN" altLang="en-US" dirty="0"/>
                  <a:t>在同一个时间节点反复“回退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重做”的次数。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87F781F-D254-E26A-EF2E-09D7663DA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510" y="4121318"/>
                <a:ext cx="5989346" cy="923330"/>
              </a:xfrm>
              <a:prstGeom prst="rect">
                <a:avLst/>
              </a:prstGeom>
              <a:blipFill>
                <a:blip r:embed="rId4"/>
                <a:stretch>
                  <a:fillRect t="-3289" r="-4578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70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81E7-3C8A-A692-B95B-3BD8393F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2C0B70D-6C93-3CB7-70D6-3A3617A990F9}"/>
              </a:ext>
            </a:extLst>
          </p:cNvPr>
          <p:cNvSpPr txBox="1"/>
          <p:nvPr/>
        </p:nvSpPr>
        <p:spPr>
          <a:xfrm>
            <a:off x="1189150" y="369075"/>
            <a:ext cx="9813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ZERO-SHOT IMAGE RESTORATION USING  DENOISING DIFFUSION NULL-SPACE MODEL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E16B5F-7158-1994-DF1B-83CF5B14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3" y="1554241"/>
            <a:ext cx="10870114" cy="464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1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B406-7EA0-5D05-9A24-D615215C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8ACAE77-CCB4-6B86-6DB3-BACC80F591A7}"/>
              </a:ext>
            </a:extLst>
          </p:cNvPr>
          <p:cNvSpPr txBox="1"/>
          <p:nvPr/>
        </p:nvSpPr>
        <p:spPr>
          <a:xfrm>
            <a:off x="1189150" y="369075"/>
            <a:ext cx="98137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ZERO-SHOT IMAGE RESTORATION USING  DENOISING DIFFUSION NULL-SPACE MODEL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EBBEF3D-8A71-A895-C38C-2ACACCBD0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4073" y="1760782"/>
                <a:ext cx="9903854" cy="42659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Mask-Shift 技巧</a:t>
                </a:r>
                <a:endPara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尺寸限制与拼接伪影</a:t>
                </a: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扩散模型通常只能生成固定尺寸的图像。直接将大图切块放大再拼接，会产生明显的</a:t>
                </a:r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块状伪影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和割裂的拼缝。 </a:t>
                </a:r>
                <a:endPara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重叠切块 + 强制边界对齐</a:t>
                </a: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细粒度重叠切块：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将原图切分为互相重叠的较小区域。正常生成第一个重叠块的高清图，并固定其左半部分。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掩码平移与强制替换 ：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窗口向右平移。在后续每次逆向扩散的时间步 </a:t>
                </a:r>
                <a14:m>
                  <m:oMath xmlns:m="http://schemas.openxmlformats.org/officeDocument/2006/math">
                    <m:r>
                      <a:rPr kumimoji="0" lang="zh-CN" altLang="zh-CN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中，</a:t>
                </a:r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强行用上一步已生成的确定结果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zh-CN" altLang="zh-CN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kumimoji="0" lang="zh-CN" altLang="zh-CN" b="1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zh-CN" altLang="zh-CN" b="1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</m:sup>
                    </m:sSup>
                  </m:oMath>
                </a14:m>
                <a:r>
                  <a:rPr kumimoji="0" lang="zh-CN" altLang="zh-CN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，替换掉当前预测图的重叠部分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。 </a:t>
                </a:r>
                <a:endPara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zh-CN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zh-CN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依次滑动咬合，完全消除拼缝，输出完整长图。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EBBEF3D-8A71-A895-C38C-2ACACCBD04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4073" y="1760782"/>
                <a:ext cx="9903854" cy="4265911"/>
              </a:xfrm>
              <a:prstGeom prst="rect">
                <a:avLst/>
              </a:prstGeom>
              <a:blipFill>
                <a:blip r:embed="rId2"/>
                <a:stretch>
                  <a:fillRect l="-554" t="-429" r="-3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BE76E9BF-C339-76F7-73B6-78C467F68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470" y="4678626"/>
            <a:ext cx="2525970" cy="5372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7042647-9585-1EB7-74EA-9FAA60E37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569" y="4707929"/>
            <a:ext cx="2139770" cy="512959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9853E845-96BD-EBDB-F593-7834741E1925}"/>
              </a:ext>
            </a:extLst>
          </p:cNvPr>
          <p:cNvSpPr/>
          <p:nvPr/>
        </p:nvSpPr>
        <p:spPr>
          <a:xfrm>
            <a:off x="5510012" y="4781632"/>
            <a:ext cx="536620" cy="3312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95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6B17-0489-5622-9E91-861004A2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FF91AF-C9B0-02C7-DEB4-B5302230B798}"/>
              </a:ext>
            </a:extLst>
          </p:cNvPr>
          <p:cNvSpPr txBox="1"/>
          <p:nvPr/>
        </p:nvSpPr>
        <p:spPr>
          <a:xfrm>
            <a:off x="1189150" y="369075"/>
            <a:ext cx="98137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SwinIBSR</a:t>
            </a:r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: Towards real-world infrared image super-resolution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0923C0-4D8F-038D-664D-DB02A5FE95A7}"/>
              </a:ext>
            </a:extLst>
          </p:cNvPr>
          <p:cNvSpPr txBox="1"/>
          <p:nvPr/>
        </p:nvSpPr>
        <p:spPr>
          <a:xfrm>
            <a:off x="985234" y="1674674"/>
            <a:ext cx="102215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研究背景与行业痛点</a:t>
            </a:r>
            <a:r>
              <a:rPr lang="en-US" altLang="zh-CN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红外探测器受物理与成本限制，分辨率通常较低，亟需通过超分（</a:t>
            </a:r>
            <a:r>
              <a:rPr lang="en-US" altLang="zh-CN" dirty="0"/>
              <a:t>SR</a:t>
            </a:r>
            <a:r>
              <a:rPr lang="zh-CN" altLang="en-US" dirty="0"/>
              <a:t>）算法提升分辨率与画质。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现有深度学习</a:t>
            </a:r>
            <a:r>
              <a:rPr lang="en-US" altLang="zh-CN" dirty="0"/>
              <a:t>SR</a:t>
            </a:r>
            <a:r>
              <a:rPr lang="zh-CN" altLang="en-US" dirty="0"/>
              <a:t>方法多为非盲超分，脱离实际；红外训练数据匮乏易过拟合；过度依赖客观指标导致伪影明显；传统</a:t>
            </a:r>
            <a:r>
              <a:rPr lang="en-US" altLang="zh-CN" dirty="0"/>
              <a:t>CNN</a:t>
            </a:r>
            <a:r>
              <a:rPr lang="zh-CN" altLang="en-US" dirty="0"/>
              <a:t>网络缺乏长距离建模能力。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175988-773A-C954-64AC-6F6025D94B4C}"/>
              </a:ext>
            </a:extLst>
          </p:cNvPr>
          <p:cNvSpPr txBox="1"/>
          <p:nvPr/>
        </p:nvSpPr>
        <p:spPr>
          <a:xfrm>
            <a:off x="985233" y="3646128"/>
            <a:ext cx="100176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技术路线：</a:t>
            </a:r>
            <a:endParaRPr lang="en-US" altLang="zh-CN" b="1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退化模型： 模拟真实世界中未知的、复杂的红外图像退化过程。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多模态混合训练策略： 混合“可见光</a:t>
            </a:r>
            <a:r>
              <a:rPr lang="en-US" altLang="zh-CN" dirty="0"/>
              <a:t>+</a:t>
            </a:r>
            <a:r>
              <a:rPr lang="zh-CN" altLang="en-US" dirty="0"/>
              <a:t>红外”数据集进行训练，弥补红外数据不足，提升模型的泛化与细节生成能力。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视觉感知驱动的</a:t>
            </a:r>
            <a:r>
              <a:rPr lang="en-US" altLang="zh-CN" dirty="0"/>
              <a:t>GAN</a:t>
            </a:r>
            <a:r>
              <a:rPr lang="zh-CN" altLang="en-US" dirty="0"/>
              <a:t>框架： 采用结合谱归一化的</a:t>
            </a:r>
            <a:r>
              <a:rPr lang="en-US" altLang="zh-CN" dirty="0"/>
              <a:t>U-Net</a:t>
            </a:r>
            <a:r>
              <a:rPr lang="zh-CN" altLang="en-US" dirty="0"/>
              <a:t>判别器，融合感知损失、对抗损失与</a:t>
            </a:r>
            <a:r>
              <a:rPr lang="en-US" altLang="zh-CN" dirty="0"/>
              <a:t>LDL</a:t>
            </a:r>
            <a:r>
              <a:rPr lang="zh-CN" altLang="en-US" dirty="0"/>
              <a:t>损失，消除伪影，打造符合人眼感知的真实画质。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Transformer</a:t>
            </a:r>
            <a:r>
              <a:rPr lang="zh-CN" altLang="en-US" dirty="0"/>
              <a:t>架构： 采用改进的</a:t>
            </a:r>
            <a:r>
              <a:rPr lang="en-US" altLang="zh-CN" dirty="0" err="1"/>
              <a:t>SwinIR</a:t>
            </a:r>
            <a:r>
              <a:rPr lang="zh-CN" altLang="en-US" dirty="0"/>
              <a:t>生成器，突破传统</a:t>
            </a:r>
            <a:r>
              <a:rPr lang="en-US" altLang="zh-CN" dirty="0"/>
              <a:t>CNN</a:t>
            </a:r>
            <a:r>
              <a:rPr lang="zh-CN" altLang="en-US" dirty="0"/>
              <a:t>局限，有效捕捉图像中像素的长距离依赖关系。</a:t>
            </a:r>
          </a:p>
        </p:txBody>
      </p:sp>
    </p:spTree>
    <p:extLst>
      <p:ext uri="{BB962C8B-B14F-4D97-AF65-F5344CB8AC3E}">
        <p14:creationId xmlns:p14="http://schemas.microsoft.com/office/powerpoint/2010/main" val="56445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F0F2-28B4-AC48-6457-245D4555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0C8B48-A399-21A3-8BD9-4155D276C24A}"/>
              </a:ext>
            </a:extLst>
          </p:cNvPr>
          <p:cNvSpPr txBox="1"/>
          <p:nvPr/>
        </p:nvSpPr>
        <p:spPr>
          <a:xfrm>
            <a:off x="1189150" y="369075"/>
            <a:ext cx="98137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SwinIBSR</a:t>
            </a:r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: Towards real-world infrared image super-resolution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E16A93-CB04-0ECD-AAF3-73DE8DA9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51" y="985234"/>
            <a:ext cx="3574468" cy="41384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76C1A3A-25F4-0606-F192-8FBBEA3F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719" y="985234"/>
            <a:ext cx="7821430" cy="3090929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40D6222-A7BB-F741-9473-41E1B313D2C2}"/>
              </a:ext>
            </a:extLst>
          </p:cNvPr>
          <p:cNvCxnSpPr/>
          <p:nvPr/>
        </p:nvCxnSpPr>
        <p:spPr>
          <a:xfrm>
            <a:off x="3998894" y="985234"/>
            <a:ext cx="0" cy="547352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8703E10-A8AC-2797-9340-31AFC7D3ADB8}"/>
              </a:ext>
            </a:extLst>
          </p:cNvPr>
          <p:cNvSpPr txBox="1"/>
          <p:nvPr/>
        </p:nvSpPr>
        <p:spPr>
          <a:xfrm>
            <a:off x="201234" y="5233947"/>
            <a:ext cx="3739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训练阶段 ： 构建成对的</a:t>
            </a:r>
            <a:r>
              <a:rPr lang="en-US" altLang="zh-CN" dirty="0"/>
              <a:t>HR-LR</a:t>
            </a:r>
            <a:r>
              <a:rPr lang="zh-CN" altLang="en-US" dirty="0"/>
              <a:t>数据</a:t>
            </a:r>
          </a:p>
          <a:p>
            <a:r>
              <a:rPr lang="zh-CN" altLang="en-US" dirty="0"/>
              <a:t>测试阶段 ： </a:t>
            </a:r>
            <a:r>
              <a:rPr lang="en-US" altLang="zh-CN" dirty="0"/>
              <a:t>SR</a:t>
            </a:r>
            <a:r>
              <a:rPr lang="zh-CN" altLang="en-US" dirty="0"/>
              <a:t>网络直接接收未见过的、真实世界的</a:t>
            </a:r>
            <a:r>
              <a:rPr lang="en-US" altLang="zh-CN" dirty="0"/>
              <a:t>LR</a:t>
            </a:r>
            <a:r>
              <a:rPr lang="zh-CN" altLang="en-US" dirty="0"/>
              <a:t>，输出超分重建后的</a:t>
            </a:r>
            <a:r>
              <a:rPr lang="en-US" altLang="zh-CN" dirty="0"/>
              <a:t>HR</a:t>
            </a:r>
            <a:r>
              <a:rPr lang="zh-CN" altLang="en-US" dirty="0"/>
              <a:t>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041000-16DC-4978-8847-C5F55713587D}"/>
              </a:ext>
            </a:extLst>
          </p:cNvPr>
          <p:cNvSpPr txBox="1"/>
          <p:nvPr/>
        </p:nvSpPr>
        <p:spPr>
          <a:xfrm>
            <a:off x="4165156" y="4076163"/>
            <a:ext cx="78214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统一门控二阶退化模型</a:t>
            </a:r>
            <a:r>
              <a:rPr lang="zh-CN" altLang="en-US" dirty="0"/>
              <a:t>：通过门控机制执行一系列退化操作。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模糊 </a:t>
            </a:r>
            <a:r>
              <a:rPr lang="en-US" altLang="zh-CN" dirty="0"/>
              <a:t>(Blur)</a:t>
            </a:r>
            <a:r>
              <a:rPr lang="zh-CN" altLang="en-US" dirty="0"/>
              <a:t>： 随机选用高斯、广义高斯或平台型模糊核，模拟复杂失焦。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Sinc</a:t>
            </a:r>
            <a:r>
              <a:rPr lang="zh-CN" altLang="en-US" dirty="0"/>
              <a:t>滤波： 模拟图像边缘常见的振铃</a:t>
            </a:r>
            <a:r>
              <a:rPr lang="en-US" altLang="zh-CN" dirty="0"/>
              <a:t>/</a:t>
            </a:r>
            <a:r>
              <a:rPr lang="zh-CN" altLang="en-US" dirty="0"/>
              <a:t>重影伪影。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尺寸缩放： 缩小或放大操作。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噪声 </a:t>
            </a:r>
            <a:r>
              <a:rPr lang="en-US" altLang="zh-CN" dirty="0"/>
              <a:t>(Noise)</a:t>
            </a:r>
            <a:r>
              <a:rPr lang="zh-CN" altLang="en-US" dirty="0"/>
              <a:t>： 叠加高斯噪声与泊松噪声模拟真实干扰。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柱状条纹 </a:t>
            </a:r>
            <a:r>
              <a:rPr lang="en-US" altLang="zh-CN" dirty="0"/>
              <a:t>(Column Stripe)</a:t>
            </a:r>
            <a:r>
              <a:rPr lang="zh-CN" altLang="en-US" dirty="0"/>
              <a:t>： 重点模拟红外成像读出电路非均匀响应导致的垂直条纹。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JPEG</a:t>
            </a:r>
            <a:r>
              <a:rPr lang="zh-CN" altLang="en-US" dirty="0"/>
              <a:t>压缩： 模拟图像存储与传输带来的有损压缩伪影。</a:t>
            </a:r>
          </a:p>
        </p:txBody>
      </p:sp>
    </p:spTree>
    <p:extLst>
      <p:ext uri="{BB962C8B-B14F-4D97-AF65-F5344CB8AC3E}">
        <p14:creationId xmlns:p14="http://schemas.microsoft.com/office/powerpoint/2010/main" val="162809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2B963-6C06-F384-A094-A234A00F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EFEB20B-36AD-59D7-7589-38E29F13BAC2}"/>
              </a:ext>
            </a:extLst>
          </p:cNvPr>
          <p:cNvSpPr txBox="1"/>
          <p:nvPr/>
        </p:nvSpPr>
        <p:spPr>
          <a:xfrm>
            <a:off x="1189150" y="369075"/>
            <a:ext cx="98137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SwinIBSR</a:t>
            </a:r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: Towards real-world infrared image super-resolution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DDC682-F0F5-7A30-F611-5CB1C5821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20" y="1051044"/>
            <a:ext cx="9043115" cy="34924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396C66E-8337-5F14-FE88-B00879541363}"/>
              </a:ext>
            </a:extLst>
          </p:cNvPr>
          <p:cNvSpPr txBox="1"/>
          <p:nvPr/>
        </p:nvSpPr>
        <p:spPr>
          <a:xfrm>
            <a:off x="365706" y="4763828"/>
            <a:ext cx="11460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Shallow Extraction</a:t>
            </a:r>
            <a:r>
              <a:rPr lang="zh-CN" altLang="en-US" b="1" dirty="0"/>
              <a:t>：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3x3</a:t>
            </a:r>
            <a:r>
              <a:rPr lang="zh-CN" altLang="en-US" dirty="0"/>
              <a:t>卷积层。进行初步特征打包，归纳偏置。</a:t>
            </a:r>
            <a:endParaRPr lang="en-US" altLang="zh-CN" dirty="0"/>
          </a:p>
          <a:p>
            <a:r>
              <a:rPr lang="en-US" altLang="zh-CN" b="1" dirty="0"/>
              <a:t>Deep Extraction</a:t>
            </a:r>
            <a:r>
              <a:rPr lang="zh-CN" altLang="en-US" b="1" dirty="0"/>
              <a:t>：</a:t>
            </a:r>
            <a:r>
              <a:rPr lang="en-US" altLang="zh-CN" dirty="0"/>
              <a:t>4</a:t>
            </a:r>
            <a:r>
              <a:rPr lang="zh-CN" altLang="en-US" dirty="0"/>
              <a:t>个残差</a:t>
            </a:r>
            <a:r>
              <a:rPr lang="en-US" altLang="zh-CN" dirty="0"/>
              <a:t>Swin Transformer</a:t>
            </a:r>
            <a:r>
              <a:rPr lang="zh-CN" altLang="en-US" dirty="0"/>
              <a:t>块 </a:t>
            </a:r>
            <a:r>
              <a:rPr lang="en-US" altLang="zh-CN" dirty="0"/>
              <a:t>(RSTB)</a:t>
            </a:r>
            <a:r>
              <a:rPr lang="zh-CN" altLang="en-US" dirty="0"/>
              <a:t>。利用移动窗口机制，学习图像像素间的长距离依赖关系。重构高频纹理。</a:t>
            </a:r>
          </a:p>
          <a:p>
            <a:r>
              <a:rPr lang="en-US" altLang="zh-CN" b="1" dirty="0"/>
              <a:t>Reconstruction</a:t>
            </a:r>
            <a:r>
              <a:rPr lang="zh-CN" altLang="en-US" b="1" dirty="0"/>
              <a:t>：</a:t>
            </a:r>
            <a:r>
              <a:rPr lang="zh-CN" altLang="en-US" dirty="0"/>
              <a:t>残差连接 </a:t>
            </a:r>
            <a:r>
              <a:rPr lang="en-US" altLang="zh-CN" dirty="0"/>
              <a:t>+ </a:t>
            </a:r>
            <a:r>
              <a:rPr lang="zh-CN" altLang="en-US" dirty="0"/>
              <a:t>最近邻插值上采样。将浅层与深层特征相加融合；利用最近邻插值高效放大图像。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D7AF84-E387-2E5D-2E7C-08CDCDB72670}"/>
              </a:ext>
            </a:extLst>
          </p:cNvPr>
          <p:cNvSpPr txBox="1"/>
          <p:nvPr/>
        </p:nvSpPr>
        <p:spPr>
          <a:xfrm>
            <a:off x="8980599" y="2797284"/>
            <a:ext cx="2777812" cy="2019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判别器架构设计：</a:t>
            </a:r>
          </a:p>
          <a:p>
            <a:r>
              <a:rPr lang="en-US" altLang="zh-CN" b="1" dirty="0"/>
              <a:t>U-Net + </a:t>
            </a:r>
            <a:r>
              <a:rPr lang="zh-CN" altLang="en-US" b="1" dirty="0"/>
              <a:t>跳跃连接： </a:t>
            </a:r>
            <a:r>
              <a:rPr lang="zh-CN" altLang="en-US" dirty="0"/>
              <a:t>既看宏观整体，又抓微观细节，为生成器提供逐像素级反馈。</a:t>
            </a:r>
          </a:p>
          <a:p>
            <a:r>
              <a:rPr lang="zh-CN" altLang="en-US" b="1" dirty="0"/>
              <a:t>谱归一化 ： </a:t>
            </a:r>
            <a:r>
              <a:rPr lang="zh-CN" altLang="en-US" dirty="0"/>
              <a:t>给判别器加约束，防止其判定失控。</a:t>
            </a:r>
          </a:p>
        </p:txBody>
      </p:sp>
    </p:spTree>
    <p:extLst>
      <p:ext uri="{BB962C8B-B14F-4D97-AF65-F5344CB8AC3E}">
        <p14:creationId xmlns:p14="http://schemas.microsoft.com/office/powerpoint/2010/main" val="317249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D3239-83C6-C0B8-12A0-6F948ED5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829007F-F16D-6659-F995-EC57794DC3F5}"/>
              </a:ext>
            </a:extLst>
          </p:cNvPr>
          <p:cNvSpPr txBox="1"/>
          <p:nvPr/>
        </p:nvSpPr>
        <p:spPr>
          <a:xfrm>
            <a:off x="1189150" y="369075"/>
            <a:ext cx="98137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 err="1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SwinIBSR</a:t>
            </a:r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: Towards real-world infrared image super-resolution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3ECA347-E9CB-DC2C-B043-F787ECD9F50F}"/>
                  </a:ext>
                </a:extLst>
              </p:cNvPr>
              <p:cNvSpPr txBox="1"/>
              <p:nvPr/>
            </p:nvSpPr>
            <p:spPr>
              <a:xfrm>
                <a:off x="1679351" y="1502671"/>
                <a:ext cx="8833297" cy="38526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1. L1 Loss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zh-CN" dirty="0">
                    <a:latin typeface="Arial" panose="020B0604020202020204" pitchFamily="34" charset="0"/>
                  </a:rPr>
                  <a:t>计算真实高清图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𝐻𝑅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dirty="0">
                    <a:latin typeface="Arial" panose="020B0604020202020204" pitchFamily="34" charset="0"/>
                  </a:rPr>
                  <a:t>与生成超分图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𝑆𝑅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dirty="0">
                    <a:latin typeface="Arial" panose="020B0604020202020204" pitchFamily="34" charset="0"/>
                  </a:rPr>
                  <a:t> 的基础像素绝对差异</a:t>
                </a:r>
                <a:r>
                  <a:rPr lang="zh-CN" altLang="en-US" dirty="0"/>
                  <a:t>，保底客观指标。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2. Perceptual Loss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引入预训练</a:t>
                </a:r>
                <a:r>
                  <a:rPr lang="en-US" altLang="zh-CN" dirty="0"/>
                  <a:t>VGG</a:t>
                </a:r>
                <a:r>
                  <a:rPr lang="zh-CN" altLang="en-US" dirty="0"/>
                  <a:t>网络的第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 层特征图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i="1" dirty="0" err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进行对比。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3. LDL Loss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zh-CN" i="1" dirty="0">
                        <a:latin typeface="Cambria Math" panose="02040503050406030204" pitchFamily="18" charset="0"/>
                      </a:rPr>
                      <m:t>引入伪影区域掩膜</m:t>
                    </m:r>
                    <m:d>
                      <m:dPr>
                        <m:ctrlPr>
                          <a:rPr lang="zh-CN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zh-CN" altLang="zh-CN" i="1" dirty="0">
                                <a:latin typeface="Cambria Math" panose="02040503050406030204" pitchFamily="18" charset="0"/>
                              </a:rPr>
                              <m:t>𝑟𝑒𝑓𝑖𝑛𝑒</m:t>
                            </m:r>
                          </m:sub>
                        </m:sSub>
                      </m:e>
                    </m:d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精准计算并定位画面中由</a:t>
                </a:r>
                <a:r>
                  <a:rPr lang="en-US" altLang="zh-CN" dirty="0"/>
                  <a:t>GAN</a:t>
                </a:r>
                <a:r>
                  <a:rPr lang="zh-CN" altLang="en-US" dirty="0"/>
                  <a:t>生成的“假细节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伪影”区域，并在损失中施加严厉惩罚。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4. Adversarial Loss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相对概率博弈。评估 </a:t>
                </a:r>
                <a:r>
                  <a:rPr lang="en-US" altLang="zh-CN" dirty="0"/>
                  <a:t>HR </a:t>
                </a:r>
                <a:r>
                  <a:rPr lang="zh-CN" altLang="en-US" dirty="0"/>
                  <a:t>比 </a:t>
                </a:r>
                <a:r>
                  <a:rPr lang="en-US" altLang="zh-CN" dirty="0"/>
                  <a:t>SR </a:t>
                </a:r>
                <a:r>
                  <a:rPr lang="zh-CN" altLang="en-US" dirty="0"/>
                  <a:t>“看起来更真”的概率。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3ECA347-E9CB-DC2C-B043-F787ECD9F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351" y="1502671"/>
                <a:ext cx="8833297" cy="3852658"/>
              </a:xfrm>
              <a:prstGeom prst="rect">
                <a:avLst/>
              </a:prstGeom>
              <a:blipFill>
                <a:blip r:embed="rId2"/>
                <a:stretch>
                  <a:fillRect l="-552" r="-3103" b="-1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592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50CC-FDD8-8C72-619D-02542BB8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ECA757D-B5B5-DE81-2AF1-68AD1DE5347C}"/>
              </a:ext>
            </a:extLst>
          </p:cNvPr>
          <p:cNvSpPr txBox="1"/>
          <p:nvPr/>
        </p:nvSpPr>
        <p:spPr>
          <a:xfrm>
            <a:off x="242552" y="401272"/>
            <a:ext cx="11706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Modeling Thermal Infrared Image Degradation and  Real-World Super-Resolution Under Background  Thermal Noise and Streak Interference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32DBB1-654B-AAD2-DE53-4F555CA0E240}"/>
              </a:ext>
            </a:extLst>
          </p:cNvPr>
          <p:cNvSpPr txBox="1"/>
          <p:nvPr/>
        </p:nvSpPr>
        <p:spPr>
          <a:xfrm>
            <a:off x="878982" y="1539028"/>
            <a:ext cx="1043403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一、 研究背景与痛点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硬件性能局限： 受限于硬件，热红外（TIR）图像通常具有分辨率低、噪声高、边缘模糊以及存在垂直条纹等缺陷。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现有 SR 方法的缺陷： 现有的SR算法大多使用理想的双三次下采样（bicubic downsampling）来生成低分辨率图像，这导致它们在处理真实热红外图像时，无法有效消除背景热噪声和条纹干扰。</a:t>
            </a:r>
          </a:p>
          <a:p>
            <a:endParaRPr lang="zh-CN" altLang="en-US" dirty="0"/>
          </a:p>
          <a:p>
            <a:r>
              <a:rPr lang="zh-CN" altLang="en-US" dirty="0"/>
              <a:t>二、 核心创新与解决方案 (BSSRGAN算法)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构建TIR专属退化模型： 深入分析了热像仪的成像原理，对真实世界中的背景热噪声和条纹干扰进行统计分析与建模，构建了简单有效的热红外退化模型。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可见光图像引导训练： 创新性地引入了灰度化的可见光（VIS）图像来引导网络训练，从而更好地恢复热红外图像的高频纹理细节。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多结构融合与动态密集注意力（DDA）模块： 提出了一种新型的生成器，其中的DDA模块能够动态地为“注意力分支”和“密集连接分支”分配权重，以最大化利用两种分支的特征信息。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987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DBDE-8482-5B81-3008-7B623F56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05B61FC-FCCC-7EC1-9360-185A4F15CC5E}"/>
              </a:ext>
            </a:extLst>
          </p:cNvPr>
          <p:cNvSpPr txBox="1"/>
          <p:nvPr/>
        </p:nvSpPr>
        <p:spPr>
          <a:xfrm>
            <a:off x="242552" y="401272"/>
            <a:ext cx="11706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Modeling Thermal Infrared Image Degradation and  Real-World Super-Resolution Under Background  Thermal Noise and Streak Interference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C70381-9268-B266-96C4-19237408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52" y="1300767"/>
            <a:ext cx="5207036" cy="5383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56B2A21-F350-7345-41C1-D626F7D2820B}"/>
                  </a:ext>
                </a:extLst>
              </p:cNvPr>
              <p:cNvSpPr txBox="1"/>
              <p:nvPr/>
            </p:nvSpPr>
            <p:spPr>
              <a:xfrm>
                <a:off x="5449588" y="1455314"/>
                <a:ext cx="6656553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1. </a:t>
                </a:r>
                <a:r>
                  <a:rPr lang="zh-CN" altLang="en-US" dirty="0"/>
                  <a:t>背景热噪声建模 </a:t>
                </a:r>
                <a:endParaRPr lang="en-US" altLang="zh-CN" dirty="0"/>
              </a:p>
              <a:p>
                <a:r>
                  <a:rPr lang="zh-CN" altLang="en-US" dirty="0"/>
                  <a:t>结合加性高斯噪声（模拟读取环节波动）与泊松噪声（模拟光子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暗电流波动）。</a:t>
                </a:r>
              </a:p>
              <a:p>
                <a:r>
                  <a:rPr lang="zh-CN" altLang="en-US" dirty="0"/>
                  <a:t>       公式：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en-US" altLang="zh-CN" dirty="0"/>
                  <a:t>2. </a:t>
                </a:r>
                <a:r>
                  <a:rPr lang="zh-CN" altLang="en-US" dirty="0"/>
                  <a:t>条纹干扰建模 </a:t>
                </a:r>
                <a:r>
                  <a:rPr lang="en-US" altLang="zh-CN" dirty="0"/>
                  <a:t>(Streak Interference)</a:t>
                </a:r>
              </a:p>
              <a:p>
                <a:r>
                  <a:rPr lang="zh-CN" altLang="en-US" dirty="0"/>
                  <a:t>焦平面响应不均匀导致高频空间固定模式噪声，其最显著特征是垂直条纹。通过统计发现横向波动大，采用正弦函数进行精准模拟。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𝛼</m:t>
                      </m:r>
                      <m:func>
                        <m:func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       (</a:t>
                </a:r>
                <a:r>
                  <a:rPr lang="zh-CN" altLang="en-US" dirty="0"/>
                  <a:t>注：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为振幅，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为频率，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为输入图像</a:t>
                </a:r>
                <a:r>
                  <a:rPr lang="en-US" altLang="zh-CN" dirty="0"/>
                  <a:t>)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56B2A21-F350-7345-41C1-D626F7D28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588" y="1455314"/>
                <a:ext cx="6656553" cy="2862322"/>
              </a:xfrm>
              <a:prstGeom prst="rect">
                <a:avLst/>
              </a:prstGeom>
              <a:blipFill>
                <a:blip r:embed="rId3"/>
                <a:stretch>
                  <a:fillRect l="-824" t="-1279" b="-25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80A6E4-E4C6-0604-A1DD-AC29470A0ACF}"/>
                  </a:ext>
                </a:extLst>
              </p:cNvPr>
              <p:cNvSpPr txBox="1"/>
              <p:nvPr/>
            </p:nvSpPr>
            <p:spPr>
              <a:xfrm>
                <a:off x="5449588" y="4117910"/>
                <a:ext cx="6499859" cy="2418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CN" altLang="en-US" dirty="0"/>
              </a:p>
              <a:p>
                <a:r>
                  <a:rPr lang="zh-CN" altLang="en-US" dirty="0"/>
                  <a:t>在 </a:t>
                </a:r>
                <a:r>
                  <a:rPr lang="en-US" altLang="zh-CN" dirty="0"/>
                  <a:t>HR </a:t>
                </a:r>
                <a:r>
                  <a:rPr lang="zh-CN" altLang="en-US" dirty="0"/>
                  <a:t>图像中注入热噪声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和条纹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后，再进行模糊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、下采样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↓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和</a:t>
                </a:r>
                <a:r>
                  <a:rPr lang="en-US" altLang="zh-CN" dirty="0"/>
                  <a:t>JPEG</a:t>
                </a:r>
                <a:r>
                  <a:rPr lang="zh-CN" altLang="en-US" dirty="0"/>
                  <a:t>压缩。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𝐿𝑅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𝐻𝑅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𝐻𝑅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↓</m:t>
                                  </m:r>
                                </m:e>
                                <m:sub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𝐽𝑃𝐸𝐺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现实世界的退化是多阶段的。采用多阶模型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逼近真实世界。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𝐿𝑅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𝐻𝑅</m:t>
                              </m:r>
                            </m:sub>
                          </m:sSub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∘…∘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𝐻𝑅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专属的热红外退化因素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仅在第一阶段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被引入，因为物理噪声只在图像采集瞬间产生。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480A6E4-E4C6-0604-A1DD-AC29470A0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588" y="4117910"/>
                <a:ext cx="6499859" cy="2418118"/>
              </a:xfrm>
              <a:prstGeom prst="rect">
                <a:avLst/>
              </a:prstGeom>
              <a:blipFill>
                <a:blip r:embed="rId4"/>
                <a:stretch>
                  <a:fillRect l="-844" r="-4221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35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C411-3264-3B3C-A1E2-0210FE442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3A9A53-0145-173C-B11A-B2EC7A00E056}"/>
              </a:ext>
            </a:extLst>
          </p:cNvPr>
          <p:cNvSpPr txBox="1"/>
          <p:nvPr/>
        </p:nvSpPr>
        <p:spPr>
          <a:xfrm>
            <a:off x="242552" y="401272"/>
            <a:ext cx="11706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Modeling Thermal Infrared Image Degradation and  Real-World Super-Resolution Under Background  Thermal Noise and Streak Interference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BC428C-B28D-2451-4D21-5A24775C9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139"/>
            <a:ext cx="6565907" cy="4140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D4C5E2-4D9C-303F-2B65-86AA3914273F}"/>
                  </a:ext>
                </a:extLst>
              </p:cNvPr>
              <p:cNvSpPr txBox="1"/>
              <p:nvPr/>
            </p:nvSpPr>
            <p:spPr>
              <a:xfrm>
                <a:off x="6565907" y="2074690"/>
                <a:ext cx="5328633" cy="3629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1. </a:t>
                </a:r>
                <a:r>
                  <a:rPr lang="zh-CN" altLang="en-US" dirty="0"/>
                  <a:t>深层串联结构 </a:t>
                </a:r>
                <a:r>
                  <a:rPr lang="en-US" altLang="zh-CN" dirty="0"/>
                  <a:t>(RDDA Block)</a:t>
                </a:r>
              </a:p>
              <a:p>
                <a:r>
                  <a:rPr lang="zh-CN" altLang="en-US" dirty="0"/>
                  <a:t>网络核心由多个 </a:t>
                </a:r>
                <a:r>
                  <a:rPr lang="en-US" altLang="zh-CN" dirty="0"/>
                  <a:t>RDDA</a:t>
                </a:r>
                <a:r>
                  <a:rPr lang="zh-CN" altLang="en-US" dirty="0"/>
                  <a:t>（残差动态密集注意力）块串联组成。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𝑅𝐷𝐷𝐴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𝑅𝐷𝐷𝐴</m:t>
                              </m:r>
                            </m:sub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Sup>
                                <m:sSubSup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𝑅𝐷𝐷𝐴</m:t>
                                  </m:r>
                                </m:sub>
                                <m:sup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2. DDA</a:t>
                </a:r>
                <a:r>
                  <a:rPr lang="zh-CN" altLang="en-US" dirty="0"/>
                  <a:t>模块的动态双分支机制 </a:t>
                </a:r>
                <a:endParaRPr lang="en-US" altLang="zh-CN" dirty="0"/>
              </a:p>
              <a:p>
                <a:r>
                  <a:rPr lang="zh-CN" altLang="en-US" dirty="0"/>
                  <a:t>废弃固定权重，根据输入特征实时动态计算“密集分支”与“注意力分支”的权重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</a:p>
              <a:p>
                <a:r>
                  <a:rPr lang="zh-CN" altLang="en-US" dirty="0"/>
                  <a:t>       动态权重公式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sSup>
                      <m:sSup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𝑑𝑑𝑎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</a:t>
                </a:r>
                <a:r>
                  <a:rPr lang="zh-CN" altLang="en-US" dirty="0"/>
                  <a:t>双分支动态融合公式：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1×1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×</m:t>
                        </m:r>
                        <m:sSubSup>
                          <m:sSubSup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(</a:t>
                </a:r>
                <a:r>
                  <a:rPr lang="zh-CN" altLang="en-US" dirty="0"/>
                  <a:t>用 </a:t>
                </a:r>
                <a:r>
                  <a:rPr lang="en-US" altLang="zh-CN" dirty="0"/>
                  <a:t>1×1 </a:t>
                </a:r>
                <a:r>
                  <a:rPr lang="zh-CN" altLang="en-US" dirty="0"/>
                  <a:t>卷积融合全局高频特征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与局部关键特征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BD4C5E2-4D9C-303F-2B65-86AA39142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907" y="2074690"/>
                <a:ext cx="5328633" cy="3629135"/>
              </a:xfrm>
              <a:prstGeom prst="rect">
                <a:avLst/>
              </a:prstGeom>
              <a:blipFill>
                <a:blip r:embed="rId3"/>
                <a:stretch>
                  <a:fillRect l="-915" t="-839" r="-686" b="-2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105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7F41-0312-FE76-02DD-6B18EF961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5EB449E-3361-7BCC-4AFE-2FE36AB71B3F}"/>
              </a:ext>
            </a:extLst>
          </p:cNvPr>
          <p:cNvSpPr txBox="1"/>
          <p:nvPr/>
        </p:nvSpPr>
        <p:spPr>
          <a:xfrm>
            <a:off x="242552" y="401272"/>
            <a:ext cx="117068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Modeling Thermal Infrared Image Degradation and  Real-World Super-Resolution Under Background  Thermal Noise and Streak Interference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6AABC92-A98A-639E-4AD5-DCFF646BBC11}"/>
                  </a:ext>
                </a:extLst>
              </p:cNvPr>
              <p:cNvSpPr txBox="1"/>
              <p:nvPr/>
            </p:nvSpPr>
            <p:spPr>
              <a:xfrm>
                <a:off x="2754401" y="1886754"/>
                <a:ext cx="6683196" cy="3580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特征融合与图像放大</a:t>
                </a:r>
              </a:p>
              <a:p>
                <a:r>
                  <a:rPr lang="zh-CN" altLang="en-US" dirty="0"/>
                  <a:t>完成深层提取后，使用 </a:t>
                </a:r>
                <a:r>
                  <a:rPr lang="en-US" altLang="zh-CN" dirty="0"/>
                  <a:t>3x3 </a:t>
                </a:r>
                <a:r>
                  <a:rPr lang="zh-CN" altLang="en-US" dirty="0"/>
                  <a:t>卷积得到最终深层特征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/>
                  <a:t>。通过插值上采样放大尺寸并输出超分图像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𝑆𝑅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zh-CN" alt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𝑆𝑅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3×3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𝑢𝑝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𝑠𝑘𝑖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𝑠𝑘𝑖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[</a:t>
                </a:r>
                <a:r>
                  <a:rPr lang="zh-CN" altLang="en-US" dirty="0"/>
                  <a:t>跳跃连接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： 将最开始提取的浅层原始特征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直接跨越网络加回，防止图像基础结构失真。</a:t>
                </a: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</m:sSub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altLang="zh-CN" dirty="0"/>
                  <a:t>[</a:t>
                </a:r>
                <a:r>
                  <a:rPr lang="zh-CN" altLang="en-US" dirty="0"/>
                  <a:t>上采样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： 插值上采样，实现分辨率真正的物理放大。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3×3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altLang="zh-CN" dirty="0"/>
                  <a:t>[</a:t>
                </a:r>
                <a:r>
                  <a:rPr lang="zh-CN" altLang="en-US" dirty="0"/>
                  <a:t>末端平滑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： 最后通过 </a:t>
                </a:r>
                <a:r>
                  <a:rPr lang="en-US" altLang="zh-CN" dirty="0"/>
                  <a:t>3×3 </a:t>
                </a:r>
                <a:r>
                  <a:rPr lang="zh-CN" altLang="en-US" dirty="0"/>
                  <a:t>卷积进行修饰平滑，输出成片。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6AABC92-A98A-639E-4AD5-DCFF646BB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401" y="1886754"/>
                <a:ext cx="6683196" cy="3580404"/>
              </a:xfrm>
              <a:prstGeom prst="rect">
                <a:avLst/>
              </a:prstGeom>
              <a:blipFill>
                <a:blip r:embed="rId2"/>
                <a:stretch>
                  <a:fillRect l="-821" r="-4106" b="-1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27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193D0-3F26-8169-B41E-DCA5E552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4F51D67-4118-415E-D0A6-C9E54C8930AC}"/>
              </a:ext>
            </a:extLst>
          </p:cNvPr>
          <p:cNvSpPr txBox="1"/>
          <p:nvPr/>
        </p:nvSpPr>
        <p:spPr>
          <a:xfrm>
            <a:off x="2232338" y="401272"/>
            <a:ext cx="7727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Projection-Manifold Regularized Latent Diffusion for Robust General Image Fusion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5299B8-824A-66AF-A07A-65A80E299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39" y="1928743"/>
            <a:ext cx="7184378" cy="38474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AA189D1-217C-694E-769E-66E7DEE3055E}"/>
              </a:ext>
            </a:extLst>
          </p:cNvPr>
          <p:cNvSpPr txBox="1"/>
          <p:nvPr/>
        </p:nvSpPr>
        <p:spPr>
          <a:xfrm>
            <a:off x="7289441" y="1928743"/>
            <a:ext cx="45805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一、 现有问题与</a:t>
            </a:r>
            <a:r>
              <a:rPr lang="en-US" altLang="zh-CN" dirty="0" err="1"/>
              <a:t>PDFuse</a:t>
            </a:r>
            <a:r>
              <a:rPr lang="zh-CN" altLang="en-US" dirty="0"/>
              <a:t>的局限性</a:t>
            </a:r>
          </a:p>
          <a:p>
            <a:r>
              <a:rPr lang="zh-CN" altLang="en-US" dirty="0"/>
              <a:t>当前的通用融合技术依赖持续学习或定制网络，跨任务时需重新训练；现有的抗干扰方法高度依赖成对的“干净</a:t>
            </a:r>
            <a:r>
              <a:rPr lang="en-US" altLang="zh-CN" dirty="0"/>
              <a:t>-</a:t>
            </a:r>
            <a:r>
              <a:rPr lang="zh-CN" altLang="en-US" dirty="0"/>
              <a:t>退化”训练数据，且只能针对特定退化类型。</a:t>
            </a:r>
          </a:p>
          <a:p>
            <a:r>
              <a:rPr lang="zh-CN" altLang="en-US" dirty="0"/>
              <a:t>现有方法（如</a:t>
            </a:r>
            <a:r>
              <a:rPr lang="en-US" altLang="zh-CN" dirty="0"/>
              <a:t>DDFM</a:t>
            </a:r>
            <a:r>
              <a:rPr lang="zh-CN" altLang="en-US" dirty="0"/>
              <a:t>、</a:t>
            </a:r>
            <a:r>
              <a:rPr lang="en-US" altLang="zh-CN" dirty="0"/>
              <a:t>CCF</a:t>
            </a:r>
            <a:r>
              <a:rPr lang="zh-CN" altLang="en-US" dirty="0"/>
              <a:t>）仅限于基础的</a:t>
            </a:r>
            <a:r>
              <a:rPr lang="en-US" altLang="zh-CN" dirty="0"/>
              <a:t>DDPM</a:t>
            </a:r>
            <a:r>
              <a:rPr lang="zh-CN" altLang="en-US" dirty="0"/>
              <a:t>，缺乏对潜扩散模型的探索，且未能协调好多源信息注入与生成先验的利用。</a:t>
            </a:r>
          </a:p>
          <a:p>
            <a:r>
              <a:rPr lang="zh-CN" altLang="en-US" dirty="0"/>
              <a:t>   </a:t>
            </a:r>
          </a:p>
          <a:p>
            <a:r>
              <a:rPr lang="zh-CN" altLang="en-US" dirty="0"/>
              <a:t>二、 </a:t>
            </a:r>
            <a:r>
              <a:rPr lang="en-US" altLang="zh-CN" dirty="0" err="1"/>
              <a:t>PDFuse</a:t>
            </a:r>
            <a:r>
              <a:rPr lang="en-US" altLang="zh-CN" dirty="0"/>
              <a:t> </a:t>
            </a:r>
            <a:r>
              <a:rPr lang="zh-CN" altLang="en-US" dirty="0"/>
              <a:t>核心方法与实现机制</a:t>
            </a:r>
          </a:p>
          <a:p>
            <a:r>
              <a:rPr lang="en-US" altLang="zh-CN" dirty="0"/>
              <a:t>MICP</a:t>
            </a:r>
            <a:r>
              <a:rPr lang="zh-CN" altLang="en-US" dirty="0"/>
              <a:t>与</a:t>
            </a:r>
            <a:r>
              <a:rPr lang="en-US" altLang="zh-CN" dirty="0"/>
              <a:t>LMG</a:t>
            </a:r>
            <a:r>
              <a:rPr lang="zh-CN" altLang="en-US" dirty="0"/>
              <a:t>的交替优化：单独使用</a:t>
            </a:r>
            <a:r>
              <a:rPr lang="en-US" altLang="zh-CN" dirty="0"/>
              <a:t>LMG</a:t>
            </a:r>
            <a:r>
              <a:rPr lang="zh-CN" altLang="en-US" dirty="0"/>
              <a:t>会导致信息丢失，因此</a:t>
            </a:r>
            <a:r>
              <a:rPr lang="en-US" altLang="zh-CN" dirty="0" err="1"/>
              <a:t>PDFuse</a:t>
            </a:r>
            <a:r>
              <a:rPr lang="zh-CN" altLang="en-US" dirty="0"/>
              <a:t>在每个扩散步骤中，交替执行</a:t>
            </a:r>
            <a:r>
              <a:rPr lang="en-US" altLang="zh-CN" dirty="0"/>
              <a:t>MICP</a:t>
            </a:r>
            <a:r>
              <a:rPr lang="zh-CN" altLang="en-US" dirty="0"/>
              <a:t>（多源信息一致性投影）和</a:t>
            </a:r>
            <a:r>
              <a:rPr lang="en-US" altLang="zh-CN" dirty="0"/>
              <a:t>LMG</a:t>
            </a:r>
            <a:r>
              <a:rPr lang="zh-CN" altLang="en-US" dirty="0"/>
              <a:t>（潜流形保持引导）。</a:t>
            </a:r>
          </a:p>
          <a:p>
            <a:r>
              <a:rPr lang="zh-CN" alt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0549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87F0-CAE5-B89B-21AD-D370DD47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E2F203C-3405-8AA7-A5EC-A928298E48F2}"/>
              </a:ext>
            </a:extLst>
          </p:cNvPr>
          <p:cNvSpPr txBox="1"/>
          <p:nvPr/>
        </p:nvSpPr>
        <p:spPr>
          <a:xfrm>
            <a:off x="2232338" y="401272"/>
            <a:ext cx="7727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Projection-Manifold Regularized Latent Diffusion for Robust General Image Fusion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BAC1D2-F447-40E0-E4B3-C0C5B5B03803}"/>
              </a:ext>
            </a:extLst>
          </p:cNvPr>
          <p:cNvPicPr>
            <a:picLocks/>
          </p:cNvPicPr>
          <p:nvPr/>
        </p:nvPicPr>
        <p:blipFill>
          <a:blip r:embed="rId2"/>
          <a:srcRect l="2007" r="1919" b="1604"/>
          <a:stretch>
            <a:fillRect/>
          </a:stretch>
        </p:blipFill>
        <p:spPr>
          <a:xfrm>
            <a:off x="777025" y="1167874"/>
            <a:ext cx="10637949" cy="505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38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F6689-0535-817B-78A9-D23B2D4A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D0BA007-8B21-471B-B7A7-36F44B63349B}"/>
              </a:ext>
            </a:extLst>
          </p:cNvPr>
          <p:cNvSpPr txBox="1"/>
          <p:nvPr/>
        </p:nvSpPr>
        <p:spPr>
          <a:xfrm>
            <a:off x="2232338" y="401272"/>
            <a:ext cx="7727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Projection-Manifold Regularized Latent Diffusion for Robust General Image Fusion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0492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C8A16-579C-7DB2-CECD-56DF330F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216377F-E599-6369-701C-B0D426C48465}"/>
              </a:ext>
            </a:extLst>
          </p:cNvPr>
          <p:cNvSpPr txBox="1"/>
          <p:nvPr/>
        </p:nvSpPr>
        <p:spPr>
          <a:xfrm>
            <a:off x="2232338" y="401272"/>
            <a:ext cx="7727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Projection-Manifold Regularized Latent Diffusion for Robust General Image Fusion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6565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C9E1-DF3D-F93D-0C60-F3C49FF6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1C1E049-78F4-FEC3-D33E-49ABBBF3CC29}"/>
              </a:ext>
            </a:extLst>
          </p:cNvPr>
          <p:cNvSpPr txBox="1"/>
          <p:nvPr/>
        </p:nvSpPr>
        <p:spPr>
          <a:xfrm>
            <a:off x="2232338" y="401272"/>
            <a:ext cx="7727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Noto Serif SC Medium" panose="02020200000000000000" pitchFamily="18" charset="-122"/>
                <a:ea typeface="Noto Serif SC Medium" panose="02020200000000000000" pitchFamily="18" charset="-122"/>
              </a:rPr>
              <a:t>Projection-Manifold Regularized Latent Diffusion for Robust General Image Fusion</a:t>
            </a:r>
            <a:endParaRPr lang="zh-CN" altLang="en-US" sz="2400" dirty="0">
              <a:latin typeface="Noto Serif SC Medium" panose="02020200000000000000" pitchFamily="18" charset="-122"/>
              <a:ea typeface="Noto Serif SC Medium" panose="020202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851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4025</TotalTime>
  <Words>2336</Words>
  <Application>Microsoft Office PowerPoint</Application>
  <PresentationFormat>宽屏</PresentationFormat>
  <Paragraphs>167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Noto Serif SC Medium</vt:lpstr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兴炜 钟</dc:creator>
  <cp:lastModifiedBy>兴炜 钟</cp:lastModifiedBy>
  <cp:revision>7</cp:revision>
  <dcterms:created xsi:type="dcterms:W3CDTF">2026-04-04T03:33:20Z</dcterms:created>
  <dcterms:modified xsi:type="dcterms:W3CDTF">2026-04-13T05:49:10Z</dcterms:modified>
</cp:coreProperties>
</file>